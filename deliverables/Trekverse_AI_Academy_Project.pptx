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21b0e69e4f34ada" /><Relationship Type="http://schemas.openxmlformats.org/officeDocument/2006/relationships/extended-properties" Target="/docProps/app.xml" Id="R50fb5cd18fed4da0" /><Relationship Type="http://schemas.openxmlformats.org/officeDocument/2006/relationships/officeDocument" Target="/ppt/presentation.xml" Id="R9abc54dc849b4654" /></Relationships>
</file>

<file path=ppt/presentation.xml><?xml version="1.0" encoding="utf-8"?>
<p:presentation xmlns:p="http://schemas.openxmlformats.org/presentationml/2006/main">
  <p:sldMasterIdLst>
    <p:sldMasterId xmlns:r="http://schemas.openxmlformats.org/officeDocument/2006/relationships" id="2147483648" r:id="R87a707302cfa488c"/>
  </p:sldMasterIdLst>
  <p:notesMasterIdLst>
    <p:notesMasterId xmlns:r="http://schemas.openxmlformats.org/officeDocument/2006/relationships" r:id="R93a3364e499c4585"/>
  </p:notesMasterIdLst>
  <p:sldIdLst>
    <p:sldId xmlns:r="http://schemas.openxmlformats.org/officeDocument/2006/relationships" id="256" r:id="R7ac0801f94154af8"/>
    <p:sldId xmlns:r="http://schemas.openxmlformats.org/officeDocument/2006/relationships" id="257" r:id="R102021a1f7094074"/>
    <p:sldId xmlns:r="http://schemas.openxmlformats.org/officeDocument/2006/relationships" id="258" r:id="R4ff3d27546e34ea6"/>
    <p:sldId xmlns:r="http://schemas.openxmlformats.org/officeDocument/2006/relationships" id="259" r:id="R74d87faaffe0434e"/>
    <p:sldId xmlns:r="http://schemas.openxmlformats.org/officeDocument/2006/relationships" id="260" r:id="R5c75274415e34980"/>
    <p:sldId xmlns:r="http://schemas.openxmlformats.org/officeDocument/2006/relationships" id="261" r:id="R144612a352f84222"/>
    <p:sldId xmlns:r="http://schemas.openxmlformats.org/officeDocument/2006/relationships" id="262" r:id="R16cce74771bd42d1"/>
    <p:sldId xmlns:r="http://schemas.openxmlformats.org/officeDocument/2006/relationships" id="263" r:id="R570a3d2c8dd04ea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3f98070d36a4e94" /><Relationship Type="http://schemas.openxmlformats.org/officeDocument/2006/relationships/slideMaster" Target="/ppt/slideMasters/slideMaster1.xml" Id="R87a707302cfa488c" /><Relationship Type="http://schemas.openxmlformats.org/officeDocument/2006/relationships/notesMaster" Target="/ppt/notesMasters/notesMaster1.xml" Id="R93a3364e499c4585" /><Relationship Type="http://schemas.openxmlformats.org/officeDocument/2006/relationships/presProps" Target="/ppt/presProps.xml" Id="Rf82f8ffbf0e347f4" /><Relationship Type="http://schemas.openxmlformats.org/officeDocument/2006/relationships/tableStyles" Target="/ppt/tableStyles.xml" Id="R71b4d3749923496e" /><Relationship Type="http://schemas.openxmlformats.org/officeDocument/2006/relationships/slide" Target="/ppt/slides/slide1.xml" Id="R7ac0801f94154af8" /><Relationship Type="http://schemas.openxmlformats.org/officeDocument/2006/relationships/slide" Target="/ppt/slides/slide2.xml" Id="R102021a1f7094074" /><Relationship Type="http://schemas.openxmlformats.org/officeDocument/2006/relationships/slide" Target="/ppt/slides/slide3.xml" Id="R4ff3d27546e34ea6" /><Relationship Type="http://schemas.openxmlformats.org/officeDocument/2006/relationships/slide" Target="/ppt/slides/slide4.xml" Id="R74d87faaffe0434e" /><Relationship Type="http://schemas.openxmlformats.org/officeDocument/2006/relationships/slide" Target="/ppt/slides/slide5.xml" Id="R5c75274415e34980" /><Relationship Type="http://schemas.openxmlformats.org/officeDocument/2006/relationships/slide" Target="/ppt/slides/slide6.xml" Id="R144612a352f84222" /><Relationship Type="http://schemas.openxmlformats.org/officeDocument/2006/relationships/slide" Target="/ppt/slides/slide7.xml" Id="R16cce74771bd42d1" /><Relationship Type="http://schemas.openxmlformats.org/officeDocument/2006/relationships/slide" Target="/ppt/slides/slide8.xml" Id="R570a3d2c8dd04ea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d8898f3cfbf420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880f88d224c45c8" /><Relationship Type="http://schemas.openxmlformats.org/officeDocument/2006/relationships/notesMaster" Target="/ppt/notesMasters/notesMaster1.xml" Id="R81f9720212c84ba8" /></Relationships>
</file>

<file path=ppt/notesSlides/_rels/notesSlide2.xml.rels>&#65279;<?xml version="1.0" encoding="utf-8"?><Relationships xmlns="http://schemas.openxmlformats.org/package/2006/relationships"><Relationship Type="http://schemas.openxmlformats.org/officeDocument/2006/relationships/slide" Target="/ppt/slides/slide2.xml" Id="R8a607d5c15744007" /><Relationship Type="http://schemas.openxmlformats.org/officeDocument/2006/relationships/notesMaster" Target="/ppt/notesMasters/notesMaster1.xml" Id="Racfa500fab294bdc" /></Relationships>
</file>

<file path=ppt/notesSlides/_rels/notesSlide3.xml.rels>&#65279;<?xml version="1.0" encoding="utf-8"?><Relationships xmlns="http://schemas.openxmlformats.org/package/2006/relationships"><Relationship Type="http://schemas.openxmlformats.org/officeDocument/2006/relationships/slide" Target="/ppt/slides/slide3.xml" Id="Rf1ab3d33f1c9422e" /><Relationship Type="http://schemas.openxmlformats.org/officeDocument/2006/relationships/notesMaster" Target="/ppt/notesMasters/notesMaster1.xml" Id="R8f31c1a3b235448b" /></Relationships>
</file>

<file path=ppt/notesSlides/_rels/notesSlide4.xml.rels>&#65279;<?xml version="1.0" encoding="utf-8"?><Relationships xmlns="http://schemas.openxmlformats.org/package/2006/relationships"><Relationship Type="http://schemas.openxmlformats.org/officeDocument/2006/relationships/slide" Target="/ppt/slides/slide4.xml" Id="R8312632ab8044675" /><Relationship Type="http://schemas.openxmlformats.org/officeDocument/2006/relationships/notesMaster" Target="/ppt/notesMasters/notesMaster1.xml" Id="R4abf0d0a6aa842a8" /></Relationships>
</file>

<file path=ppt/notesSlides/_rels/notesSlide5.xml.rels>&#65279;<?xml version="1.0" encoding="utf-8"?><Relationships xmlns="http://schemas.openxmlformats.org/package/2006/relationships"><Relationship Type="http://schemas.openxmlformats.org/officeDocument/2006/relationships/slide" Target="/ppt/slides/slide5.xml" Id="Rae0e436e885a41c9" /><Relationship Type="http://schemas.openxmlformats.org/officeDocument/2006/relationships/notesMaster" Target="/ppt/notesMasters/notesMaster1.xml" Id="Rcdcdd5a03e6e46db" /></Relationships>
</file>

<file path=ppt/notesSlides/_rels/notesSlide6.xml.rels>&#65279;<?xml version="1.0" encoding="utf-8"?><Relationships xmlns="http://schemas.openxmlformats.org/package/2006/relationships"><Relationship Type="http://schemas.openxmlformats.org/officeDocument/2006/relationships/slide" Target="/ppt/slides/slide6.xml" Id="Ra322b80fb5b74e94" /><Relationship Type="http://schemas.openxmlformats.org/officeDocument/2006/relationships/notesMaster" Target="/ppt/notesMasters/notesMaster1.xml" Id="R0a1af90a8f1846d3" /></Relationships>
</file>

<file path=ppt/notesSlides/_rels/notesSlide7.xml.rels>&#65279;<?xml version="1.0" encoding="utf-8"?><Relationships xmlns="http://schemas.openxmlformats.org/package/2006/relationships"><Relationship Type="http://schemas.openxmlformats.org/officeDocument/2006/relationships/slide" Target="/ppt/slides/slide7.xml" Id="R045d9d2168c64c3f" /><Relationship Type="http://schemas.openxmlformats.org/officeDocument/2006/relationships/notesMaster" Target="/ppt/notesMasters/notesMaster1.xml" Id="Rc356d3be7589408b" /></Relationships>
</file>

<file path=ppt/notesSlides/_rels/notesSlide8.xml.rels>&#65279;<?xml version="1.0" encoding="utf-8"?><Relationships xmlns="http://schemas.openxmlformats.org/package/2006/relationships"><Relationship Type="http://schemas.openxmlformats.org/officeDocument/2006/relationships/slide" Target="/ppt/slides/slide8.xml" Id="Rd78557cdb30d48fd" /><Relationship Type="http://schemas.openxmlformats.org/officeDocument/2006/relationships/notesMaster" Target="/ppt/notesMasters/notesMaster1.xml" Id="Rc2f595e84f45411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overview based on the Trekverse assignment specification and the supplied upgrade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UCI Student Performance dataset: https://archive.ics.uci.edu/dataset/320/student+performance. License: CC BY 4.0. Dataset DOI: https://doi.org/10.24432/C5TG7T.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Results read from artifacts/models/metrics.json after a fixed-seed split and model training. Regression is on the UCI 0-20 G3 scale. Classification support bands are derived from G3. UCI source: https://archive.ics.uci.edu/dataset/320/student+performance. Dataset DOI: https://doi.org/10.24432/C5TG7T.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institution database was empty at the time the project was reviewed. The institution model must not be presented as validated until it is trained and evaluated on representative, authorized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e642a4a454e49a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6516058d4fc486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24e14676f714bc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a52a1467704408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2aec5ea8f7744b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aa797f7918d431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A5670CB-6FFC-437F-BE6F-991B52059C4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2052F44-D2B0-47E9-A595-602BE0AAA83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0AFF63D-A94D-4D65-B1F9-D2847D64997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5508133-7924-4D22-A1E4-1CAD32F045A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4D80BDE-B4C2-4CBF-888D-1418150A31E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6A3E860-C0EF-46D0-B422-75A052B4972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814D99D-D18C-4558-83FE-F47348F5308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AC78A97-007F-4B7E-A1FF-7C8351B2354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845BCA1-8C2A-454C-BB09-9EFEB3DD76B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7984596-C335-4554-8131-4D43699DC61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166a36bca2847f4" /><Relationship Type="http://schemas.openxmlformats.org/officeDocument/2006/relationships/slideLayout" Target="/ppt/slideLayouts/slideLayout1.xml" Id="Re3b85dd712844036" /><Relationship Type="http://schemas.openxmlformats.org/officeDocument/2006/relationships/slideLayout" Target="/ppt/slideLayouts/slideLayout2.xml" Id="R3b3f3b899de14a90" /><Relationship Type="http://schemas.openxmlformats.org/officeDocument/2006/relationships/slideLayout" Target="/ppt/slideLayouts/slideLayout3.xml" Id="Rf1ab04cb32a447d9" /><Relationship Type="http://schemas.openxmlformats.org/officeDocument/2006/relationships/slideLayout" Target="/ppt/slideLayouts/slideLayout4.xml" Id="R32a78fe8b0b741d4" /><Relationship Type="http://schemas.openxmlformats.org/officeDocument/2006/relationships/slideLayout" Target="/ppt/slideLayouts/slideLayout5.xml" Id="R4648ecdb5dec4ffb" /><Relationship Type="http://schemas.openxmlformats.org/officeDocument/2006/relationships/slideLayout" Target="/ppt/slideLayouts/slideLayout6.xml" Id="R568fe57f46574ed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3b85dd712844036"/>
    <p:sldLayoutId xmlns:r="http://schemas.openxmlformats.org/officeDocument/2006/relationships" id="2147483650" r:id="R3b3f3b899de14a90"/>
    <p:sldLayoutId xmlns:r="http://schemas.openxmlformats.org/officeDocument/2006/relationships" id="2147483651" r:id="Rf1ab04cb32a447d9"/>
    <p:sldLayoutId xmlns:r="http://schemas.openxmlformats.org/officeDocument/2006/relationships" id="2147483652" r:id="R32a78fe8b0b741d4"/>
    <p:sldLayoutId xmlns:r="http://schemas.openxmlformats.org/officeDocument/2006/relationships" id="2147483653" r:id="R4648ecdb5dec4ffb"/>
    <p:sldLayoutId xmlns:r="http://schemas.openxmlformats.org/officeDocument/2006/relationships" id="2147483654" r:id="R568fe57f46574ed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13742502fdc4717" /><Relationship Type="http://schemas.openxmlformats.org/officeDocument/2006/relationships/notesSlide" Target="/ppt/notesSlides/notesSlide1.xml" Id="Rf9b620cd1c31453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9a4140cd6294d92" /><Relationship Type="http://schemas.openxmlformats.org/officeDocument/2006/relationships/notesSlide" Target="/ppt/notesSlides/notesSlide2.xml" Id="R263c480251de41c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b81eddfeca04caa" /><Relationship Type="http://schemas.openxmlformats.org/officeDocument/2006/relationships/notesSlide" Target="/ppt/notesSlides/notesSlide3.xml" Id="Rde65135c20ec45a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910aa5735004c14" /><Relationship Type="http://schemas.openxmlformats.org/officeDocument/2006/relationships/notesSlide" Target="/ppt/notesSlides/notesSlide4.xml" Id="R90ccddc9f3b6484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c20769c5c50461c" /><Relationship Type="http://schemas.openxmlformats.org/officeDocument/2006/relationships/notesSlide" Target="/ppt/notesSlides/notesSlide5.xml" Id="R130f9a0446664da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e22d33d5dca4251" /><Relationship Type="http://schemas.openxmlformats.org/officeDocument/2006/relationships/notesSlide" Target="/ppt/notesSlides/notesSlide6.xml" Id="R4d16466f7a5a45c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bc6e0c5c5a44812" /><Relationship Type="http://schemas.openxmlformats.org/officeDocument/2006/relationships/notesSlide" Target="/ppt/notesSlides/notesSlide7.xml" Id="Rb0349fdffb6f4ac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f020b477ba345fe" /><Relationship Type="http://schemas.openxmlformats.org/officeDocument/2006/relationships/notesSlide" Target="/ppt/notesSlides/notesSlide8.xml" Id="R3a1914c3c6004d83" /></Relationships>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794273B-E409-4760-8FCC-B77E701477FB}"/>
              </a:ext>
            </a:extLst>
          </p:cNvPr>
          <p:cNvSpPr>
            <a:spLocks xmlns:a="http://schemas.openxmlformats.org/drawingml/2006/main" noGrp="1"/>
          </p:cNvSpPr>
          <p:nvPr/>
        </p:nvSpPr>
        <p:spPr>
          <a:xfrm xmlns:a="http://schemas.openxmlformats.org/drawingml/2006/main">
            <a:off x="781050" y="876300"/>
            <a:ext cx="76200" cy="4762500"/>
          </a:xfrm>
          <a:prstGeom xmlns:a="http://schemas.openxmlformats.org/drawingml/2006/main" prst="rect">
            <a:avLst/>
          </a:prstGeom>
          <a:solidFill xmlns:a="http://schemas.openxmlformats.org/drawingml/2006/main">
            <a:srgbClr val="168C8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2DA1DE8-EB31-4C78-80F7-F0F7DAA93A33}"/>
              </a:ext>
            </a:extLst>
          </p:cNvPr>
          <p:cNvSpPr>
            <a:spLocks xmlns:a="http://schemas.openxmlformats.org/drawingml/2006/main" noGrp="1"/>
          </p:cNvSpPr>
          <p:nvPr/>
        </p:nvSpPr>
        <p:spPr>
          <a:xfrm xmlns:a="http://schemas.openxmlformats.org/drawingml/2006/main">
            <a:off x="1181100" y="100012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8FD3CA"/>
                </a:solidFill>
                <a:latin typeface="Arial"/>
                <a:ea typeface="Arial"/>
                <a:cs typeface="Arial"/>
              </a:defRPr>
            </a:defPPr>
          </a:lstStyle>
          <a:p xmlns:a="http://schemas.openxmlformats.org/drawingml/2006/main">
            <a:pPr>
              <a:defRPr sz="1350" b="1">
                <a:solidFill>
                  <a:srgbClr val="8FD3CA"/>
                </a:solidFill>
                <a:latin typeface="Arial"/>
                <a:ea typeface="Arial"/>
                <a:cs typeface="Arial"/>
              </a:defRPr>
            </a:pPr>
            <a:r>
              <a:rPr sz="1350" b="1">
                <a:solidFill>
                  <a:srgbClr val="8FD3CA"/>
                </a:solidFill>
                <a:latin typeface="Arial"/>
                <a:ea typeface="Arial"/>
                <a:cs typeface="Arial"/>
              </a:rPr>
              <a:t>TREKVERSE AI ACADEMY</a:t>
            </a:r>
          </a:p>
        </p:txBody>
      </p:sp>
      <p:sp>
        <p:nvSpPr>
          <p:cNvPr id="3" name="">
            <a:extLst xmlns:a="http://schemas.openxmlformats.org/drawingml/2006/main">
              <a:ext uri="{FF2B5EF4-FFF2-40B4-BE49-F238E27FC236}">
                <a16:creationId xmlns:a16="http://schemas.microsoft.com/office/drawing/2014/main" id="{D74DB49C-20AC-4E57-9BB4-9BC9477E22ED}"/>
              </a:ext>
            </a:extLst>
          </p:cNvPr>
          <p:cNvSpPr>
            <a:spLocks xmlns:a="http://schemas.openxmlformats.org/drawingml/2006/main" noGrp="1"/>
          </p:cNvSpPr>
          <p:nvPr/>
        </p:nvSpPr>
        <p:spPr>
          <a:xfrm xmlns:a="http://schemas.openxmlformats.org/drawingml/2006/main">
            <a:off x="1181100" y="1809750"/>
            <a:ext cx="9620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900" b="1">
                <a:solidFill>
                  <a:srgbClr val="FFFFFF"/>
                </a:solidFill>
                <a:latin typeface="Arial"/>
                <a:ea typeface="Arial"/>
                <a:cs typeface="Arial"/>
              </a:defRPr>
            </a:defPPr>
          </a:lstStyle>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Student Performance</a:t>
            </a:r>
          </a:p>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and Early-Warning System</a:t>
            </a:r>
          </a:p>
        </p:txBody>
      </p:sp>
      <p:sp>
        <p:nvSpPr>
          <p:cNvPr id="4" name="">
            <a:extLst xmlns:a="http://schemas.openxmlformats.org/drawingml/2006/main">
              <a:ext uri="{FF2B5EF4-FFF2-40B4-BE49-F238E27FC236}">
                <a16:creationId xmlns:a16="http://schemas.microsoft.com/office/drawing/2014/main" id="{A14DF9AC-1D15-46B0-A8CB-386B1492D58A}"/>
              </a:ext>
            </a:extLst>
          </p:cNvPr>
          <p:cNvSpPr>
            <a:spLocks xmlns:a="http://schemas.openxmlformats.org/drawingml/2006/main" noGrp="1"/>
          </p:cNvSpPr>
          <p:nvPr/>
        </p:nvSpPr>
        <p:spPr>
          <a:xfrm xmlns:a="http://schemas.openxmlformats.org/drawingml/2006/main">
            <a:off x="1219200" y="3952875"/>
            <a:ext cx="571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a:solidFill>
                  <a:srgbClr val="D9E2EC"/>
                </a:solidFill>
                <a:latin typeface="Arial"/>
                <a:ea typeface="Arial"/>
                <a:cs typeface="Arial"/>
              </a:defRPr>
            </a:defPPr>
          </a:lstStyle>
          <a:p xmlns:a="http://schemas.openxmlformats.org/drawingml/2006/main">
            <a:pPr>
              <a:defRPr sz="1875">
                <a:solidFill>
                  <a:srgbClr val="D9E2EC"/>
                </a:solidFill>
                <a:latin typeface="Arial"/>
                <a:ea typeface="Arial"/>
                <a:cs typeface="Arial"/>
              </a:defRPr>
            </a:pPr>
            <a:r>
              <a:rPr sz="1875">
                <a:solidFill>
                  <a:srgbClr val="D9E2EC"/>
                </a:solidFill>
                <a:latin typeface="Arial"/>
                <a:ea typeface="Arial"/>
                <a:cs typeface="Arial"/>
              </a:rPr>
              <a:t>AI/ML internship project</a:t>
            </a:r>
          </a:p>
        </p:txBody>
      </p:sp>
      <p:sp>
        <p:nvSpPr>
          <p:cNvPr id="5" name="">
            <a:extLst xmlns:a="http://schemas.openxmlformats.org/drawingml/2006/main">
              <a:ext uri="{FF2B5EF4-FFF2-40B4-BE49-F238E27FC236}">
                <a16:creationId xmlns:a16="http://schemas.microsoft.com/office/drawing/2014/main" id="{4333F34F-DB94-462F-8908-21A7E7C135C2}"/>
              </a:ext>
            </a:extLst>
          </p:cNvPr>
          <p:cNvSpPr>
            <a:spLocks xmlns:a="http://schemas.openxmlformats.org/drawingml/2006/main" noGrp="1"/>
          </p:cNvSpPr>
          <p:nvPr/>
        </p:nvSpPr>
        <p:spPr>
          <a:xfrm xmlns:a="http://schemas.openxmlformats.org/drawingml/2006/main">
            <a:off x="1219200" y="4695825"/>
            <a:ext cx="895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a:solidFill>
                  <a:srgbClr val="BCCCDC"/>
                </a:solidFill>
                <a:latin typeface="Arial"/>
                <a:ea typeface="Arial"/>
                <a:cs typeface="Arial"/>
              </a:defRPr>
            </a:defPPr>
          </a:lstStyle>
          <a:p xmlns:a="http://schemas.openxmlformats.org/drawingml/2006/main">
            <a:pPr>
              <a:defRPr sz="1575">
                <a:solidFill>
                  <a:srgbClr val="BCCCDC"/>
                </a:solidFill>
                <a:latin typeface="Arial"/>
                <a:ea typeface="Arial"/>
                <a:cs typeface="Arial"/>
              </a:defRPr>
            </a:pPr>
            <a:r>
              <a:rPr sz="1575">
                <a:solidFill>
                  <a:srgbClr val="BCCCDC"/>
                </a:solidFill>
                <a:latin typeface="Arial"/>
                <a:ea typeface="Arial"/>
                <a:cs typeface="Arial"/>
              </a:rPr>
              <a:t>Academic performance, student support, and explainable predictions</a:t>
            </a:r>
          </a:p>
        </p:txBody>
      </p:sp>
    </p:spTree>
    <p:extLst>
      <p:ext uri="{BB962C8B-B14F-4D97-AF65-F5344CB8AC3E}">
        <p14:creationId xmlns:p14="http://schemas.microsoft.com/office/powerpoint/2010/main" val="1997455115"/>
      </p:ext>
    </p:extLst>
  </p:cSld>
</p:sld>
</file>

<file path=ppt/slides/slide2.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9A17AA4-BA77-4917-88C6-17F28A39A70C}"/>
              </a:ext>
            </a:extLst>
          </p:cNvPr>
          <p:cNvSpPr>
            <a:spLocks xmlns:a="http://schemas.openxmlformats.org/drawingml/2006/main" noGrp="1"/>
          </p:cNvSpPr>
          <p:nvPr/>
        </p:nvSpPr>
        <p:spPr>
          <a:xfrm xmlns:a="http://schemas.openxmlformats.org/drawingml/2006/main">
            <a:off x="609600" y="266700"/>
            <a:ext cx="3619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168C83"/>
                </a:solidFill>
                <a:latin typeface="Arial"/>
                <a:ea typeface="Arial"/>
                <a:cs typeface="Arial"/>
              </a:defRPr>
            </a:defPPr>
          </a:lstStyle>
          <a:p xmlns:a="http://schemas.openxmlformats.org/drawingml/2006/main">
            <a:pPr>
              <a:defRPr sz="1125" b="1">
                <a:solidFill>
                  <a:srgbClr val="168C83"/>
                </a:solidFill>
                <a:latin typeface="Arial"/>
                <a:ea typeface="Arial"/>
                <a:cs typeface="Arial"/>
              </a:defRPr>
            </a:pPr>
            <a:r>
              <a:rPr sz="1125" b="1">
                <a:solidFill>
                  <a:srgbClr val="168C83"/>
                </a:solidFill>
                <a:latin typeface="Arial"/>
                <a:ea typeface="Arial"/>
                <a:cs typeface="Arial"/>
              </a:rPr>
              <a:t>TREKVERSE AI ACADEMY</a:t>
            </a:r>
          </a:p>
        </p:txBody>
      </p:sp>
      <p:sp>
        <p:nvSpPr>
          <p:cNvPr id="2" name="">
            <a:extLst xmlns:a="http://schemas.openxmlformats.org/drawingml/2006/main">
              <a:ext uri="{FF2B5EF4-FFF2-40B4-BE49-F238E27FC236}">
                <a16:creationId xmlns:a16="http://schemas.microsoft.com/office/drawing/2014/main" id="{DB15BC00-ACB4-41A3-891F-5A520F00C2A5}"/>
              </a:ext>
            </a:extLst>
          </p:cNvPr>
          <p:cNvSpPr>
            <a:spLocks xmlns:a="http://schemas.openxmlformats.org/drawingml/2006/main" noGrp="1"/>
          </p:cNvSpPr>
          <p:nvPr/>
        </p:nvSpPr>
        <p:spPr>
          <a:xfrm xmlns:a="http://schemas.openxmlformats.org/drawingml/2006/main">
            <a:off x="9191625" y="28575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627D98"/>
                </a:solidFill>
                <a:latin typeface="Arial"/>
                <a:ea typeface="Arial"/>
                <a:cs typeface="Arial"/>
              </a:defRPr>
            </a:defPPr>
          </a:lstStyle>
          <a:p xmlns:a="http://schemas.openxmlformats.org/drawingml/2006/main">
            <a:pPr>
              <a:defRPr sz="975" b="1">
                <a:solidFill>
                  <a:srgbClr val="627D98"/>
                </a:solidFill>
                <a:latin typeface="Arial"/>
                <a:ea typeface="Arial"/>
                <a:cs typeface="Arial"/>
              </a:defRPr>
            </a:pPr>
            <a:r>
              <a:rPr sz="975" b="1">
                <a:solidFill>
                  <a:srgbClr val="627D98"/>
                </a:solidFill>
                <a:latin typeface="Arial"/>
                <a:ea typeface="Arial"/>
                <a:cs typeface="Arial"/>
              </a:rPr>
              <a:t>OVERVIEW</a:t>
            </a:r>
          </a:p>
        </p:txBody>
      </p:sp>
      <p:sp>
        <p:nvSpPr>
          <p:cNvPr id="3" name="">
            <a:extLst xmlns:a="http://schemas.openxmlformats.org/drawingml/2006/main">
              <a:ext uri="{FF2B5EF4-FFF2-40B4-BE49-F238E27FC236}">
                <a16:creationId xmlns:a16="http://schemas.microsoft.com/office/drawing/2014/main" id="{7833A7BA-6D5F-402F-9396-BF2775D6B577}"/>
              </a:ext>
            </a:extLst>
          </p:cNvPr>
          <p:cNvSpPr>
            <a:spLocks xmlns:a="http://schemas.openxmlformats.org/drawingml/2006/main" noGrp="1"/>
          </p:cNvSpPr>
          <p:nvPr/>
        </p:nvSpPr>
        <p:spPr>
          <a:xfrm xmlns:a="http://schemas.openxmlformats.org/drawingml/2006/main">
            <a:off x="609600" y="733425"/>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000" b="1">
                <a:solidFill>
                  <a:srgbClr val="102A43"/>
                </a:solidFill>
                <a:latin typeface="Arial"/>
                <a:ea typeface="Arial"/>
                <a:cs typeface="Arial"/>
              </a:defRPr>
            </a:defPPr>
          </a:lstStyle>
          <a:p xmlns:a="http://schemas.openxmlformats.org/drawingml/2006/main">
            <a:pPr>
              <a:defRPr sz="3000" b="1">
                <a:solidFill>
                  <a:srgbClr val="102A43"/>
                </a:solidFill>
                <a:latin typeface="Arial"/>
                <a:ea typeface="Arial"/>
                <a:cs typeface="Arial"/>
              </a:defRPr>
            </a:pPr>
            <a:r>
              <a:rPr sz="3000" b="1">
                <a:solidFill>
                  <a:srgbClr val="102A43"/>
                </a:solidFill>
                <a:latin typeface="Arial"/>
                <a:ea typeface="Arial"/>
                <a:cs typeface="Arial"/>
              </a:rPr>
              <a:t>Project purpose</a:t>
            </a:r>
          </a:p>
        </p:txBody>
      </p:sp>
      <p:sp>
        <p:nvSpPr>
          <p:cNvPr id="4" name="">
            <a:extLst xmlns:a="http://schemas.openxmlformats.org/drawingml/2006/main">
              <a:ext uri="{FF2B5EF4-FFF2-40B4-BE49-F238E27FC236}">
                <a16:creationId xmlns:a16="http://schemas.microsoft.com/office/drawing/2014/main" id="{6F8752BC-6D3A-443D-A5E3-1FBD1CBEB804}"/>
              </a:ext>
            </a:extLst>
          </p:cNvPr>
          <p:cNvSpPr>
            <a:spLocks xmlns:a="http://schemas.openxmlformats.org/drawingml/2006/main" noGrp="1"/>
          </p:cNvSpPr>
          <p:nvPr/>
        </p:nvSpPr>
        <p:spPr>
          <a:xfrm xmlns:a="http://schemas.openxmlformats.org/drawingml/2006/main">
            <a:off x="609600" y="1438275"/>
            <a:ext cx="723900" cy="47625"/>
          </a:xfrm>
          <a:prstGeom xmlns:a="http://schemas.openxmlformats.org/drawingml/2006/main" prst="rect">
            <a:avLst/>
          </a:prstGeom>
          <a:solidFill xmlns:a="http://schemas.openxmlformats.org/drawingml/2006/main">
            <a:srgbClr val="168C83"/>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9DA7653-E290-4BA3-A2ED-EAB556C2B9FF}"/>
              </a:ext>
            </a:extLst>
          </p:cNvPr>
          <p:cNvSpPr>
            <a:spLocks xmlns:a="http://schemas.openxmlformats.org/drawingml/2006/main" noGrp="1"/>
          </p:cNvSpPr>
          <p:nvPr/>
        </p:nvSpPr>
        <p:spPr>
          <a:xfrm xmlns:a="http://schemas.openxmlformats.org/drawingml/2006/main">
            <a:off x="609600" y="1866900"/>
            <a:ext cx="10287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a:solidFill>
                  <a:srgbClr val="102A43"/>
                </a:solidFill>
                <a:latin typeface="Arial"/>
                <a:ea typeface="Arial"/>
                <a:cs typeface="Arial"/>
              </a:defRPr>
            </a:defPPr>
          </a:lstStyle>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Turn academic records into timely, reviewable support for students and faculty.</a:t>
            </a:r>
          </a:p>
        </p:txBody>
      </p:sp>
      <p:sp>
        <p:nvSpPr>
          <p:cNvPr id="6" name="">
            <a:extLst xmlns:a="http://schemas.openxmlformats.org/drawingml/2006/main">
              <a:ext uri="{FF2B5EF4-FFF2-40B4-BE49-F238E27FC236}">
                <a16:creationId xmlns:a16="http://schemas.microsoft.com/office/drawing/2014/main" id="{0E6520CF-639A-4B68-839C-5F4134A67342}"/>
              </a:ext>
            </a:extLst>
          </p:cNvPr>
          <p:cNvSpPr>
            <a:spLocks xmlns:a="http://schemas.openxmlformats.org/drawingml/2006/main" noGrp="1"/>
          </p:cNvSpPr>
          <p:nvPr/>
        </p:nvSpPr>
        <p:spPr>
          <a:xfrm xmlns:a="http://schemas.openxmlformats.org/drawingml/2006/main">
            <a:off x="609600" y="333375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168C83"/>
                </a:solidFill>
                <a:latin typeface="Arial"/>
                <a:ea typeface="Arial"/>
                <a:cs typeface="Arial"/>
              </a:defRPr>
            </a:defPPr>
          </a:lstStyle>
          <a:p xmlns:a="http://schemas.openxmlformats.org/drawingml/2006/main">
            <a:pPr>
              <a:defRPr sz="1275" b="1">
                <a:solidFill>
                  <a:srgbClr val="168C83"/>
                </a:solidFill>
                <a:latin typeface="Arial"/>
                <a:ea typeface="Arial"/>
                <a:cs typeface="Arial"/>
              </a:defRPr>
            </a:pPr>
            <a:r>
              <a:rPr sz="1275" b="1">
                <a:solidFill>
                  <a:srgbClr val="168C83"/>
                </a:solidFill>
                <a:latin typeface="Arial"/>
                <a:ea typeface="Arial"/>
                <a:cs typeface="Arial"/>
              </a:rPr>
              <a:t>PREDICT</a:t>
            </a:r>
          </a:p>
        </p:txBody>
      </p:sp>
      <p:sp>
        <p:nvSpPr>
          <p:cNvPr id="7" name="">
            <a:extLst xmlns:a="http://schemas.openxmlformats.org/drawingml/2006/main">
              <a:ext uri="{FF2B5EF4-FFF2-40B4-BE49-F238E27FC236}">
                <a16:creationId xmlns:a16="http://schemas.microsoft.com/office/drawing/2014/main" id="{15C33737-B81A-408C-91E0-A5A414002615}"/>
              </a:ext>
            </a:extLst>
          </p:cNvPr>
          <p:cNvSpPr>
            <a:spLocks xmlns:a="http://schemas.openxmlformats.org/drawingml/2006/main" noGrp="1"/>
          </p:cNvSpPr>
          <p:nvPr/>
        </p:nvSpPr>
        <p:spPr>
          <a:xfrm xmlns:a="http://schemas.openxmlformats.org/drawingml/2006/main">
            <a:off x="609600" y="3724275"/>
            <a:ext cx="3143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a:solidFill>
                  <a:srgbClr val="334E68"/>
                </a:solidFill>
                <a:latin typeface="Arial"/>
                <a:ea typeface="Arial"/>
                <a:cs typeface="Arial"/>
              </a:defRPr>
            </a:defPPr>
          </a:lstStyle>
          <a:p xmlns:a="http://schemas.openxmlformats.org/drawingml/2006/main">
            <a:pPr>
              <a:defRPr sz="1575">
                <a:solidFill>
                  <a:srgbClr val="334E68"/>
                </a:solidFill>
                <a:latin typeface="Arial"/>
                <a:ea typeface="Arial"/>
                <a:cs typeface="Arial"/>
              </a:defRPr>
            </a:pPr>
            <a:r>
              <a:rPr sz="1575">
                <a:solidFill>
                  <a:srgbClr val="334E68"/>
                </a:solidFill>
                <a:latin typeface="Arial"/>
                <a:ea typeface="Arial"/>
                <a:cs typeface="Arial"/>
              </a:rPr>
              <a:t>Estimate a final score and support group from permitted academic and engagement features.</a:t>
            </a:r>
          </a:p>
        </p:txBody>
      </p:sp>
      <p:sp>
        <p:nvSpPr>
          <p:cNvPr id="8" name="">
            <a:extLst xmlns:a="http://schemas.openxmlformats.org/drawingml/2006/main">
              <a:ext uri="{FF2B5EF4-FFF2-40B4-BE49-F238E27FC236}">
                <a16:creationId xmlns:a16="http://schemas.microsoft.com/office/drawing/2014/main" id="{03522F1C-B453-4CAC-AA1D-D389499D198B}"/>
              </a:ext>
            </a:extLst>
          </p:cNvPr>
          <p:cNvSpPr>
            <a:spLocks xmlns:a="http://schemas.openxmlformats.org/drawingml/2006/main" noGrp="1"/>
          </p:cNvSpPr>
          <p:nvPr/>
        </p:nvSpPr>
        <p:spPr>
          <a:xfrm xmlns:a="http://schemas.openxmlformats.org/drawingml/2006/main">
            <a:off x="4333875" y="333375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168C83"/>
                </a:solidFill>
                <a:latin typeface="Arial"/>
                <a:ea typeface="Arial"/>
                <a:cs typeface="Arial"/>
              </a:defRPr>
            </a:defPPr>
          </a:lstStyle>
          <a:p xmlns:a="http://schemas.openxmlformats.org/drawingml/2006/main">
            <a:pPr>
              <a:defRPr sz="1275" b="1">
                <a:solidFill>
                  <a:srgbClr val="168C83"/>
                </a:solidFill>
                <a:latin typeface="Arial"/>
                <a:ea typeface="Arial"/>
                <a:cs typeface="Arial"/>
              </a:defRPr>
            </a:pPr>
            <a:r>
              <a:rPr sz="1275" b="1">
                <a:solidFill>
                  <a:srgbClr val="168C83"/>
                </a:solidFill>
                <a:latin typeface="Arial"/>
                <a:ea typeface="Arial"/>
                <a:cs typeface="Arial"/>
              </a:rPr>
              <a:t>EXPLAIN</a:t>
            </a:r>
          </a:p>
        </p:txBody>
      </p:sp>
      <p:sp>
        <p:nvSpPr>
          <p:cNvPr id="9" name="">
            <a:extLst xmlns:a="http://schemas.openxmlformats.org/drawingml/2006/main">
              <a:ext uri="{FF2B5EF4-FFF2-40B4-BE49-F238E27FC236}">
                <a16:creationId xmlns:a16="http://schemas.microsoft.com/office/drawing/2014/main" id="{0327FD55-F31B-468C-A0E8-2DCB449584E9}"/>
              </a:ext>
            </a:extLst>
          </p:cNvPr>
          <p:cNvSpPr>
            <a:spLocks xmlns:a="http://schemas.openxmlformats.org/drawingml/2006/main" noGrp="1"/>
          </p:cNvSpPr>
          <p:nvPr/>
        </p:nvSpPr>
        <p:spPr>
          <a:xfrm xmlns:a="http://schemas.openxmlformats.org/drawingml/2006/main">
            <a:off x="4333875" y="3724275"/>
            <a:ext cx="3143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a:solidFill>
                  <a:srgbClr val="334E68"/>
                </a:solidFill>
                <a:latin typeface="Arial"/>
                <a:ea typeface="Arial"/>
                <a:cs typeface="Arial"/>
              </a:defRPr>
            </a:defPPr>
          </a:lstStyle>
          <a:p xmlns:a="http://schemas.openxmlformats.org/drawingml/2006/main">
            <a:pPr>
              <a:defRPr sz="1575">
                <a:solidFill>
                  <a:srgbClr val="334E68"/>
                </a:solidFill>
                <a:latin typeface="Arial"/>
                <a:ea typeface="Arial"/>
                <a:cs typeface="Arial"/>
              </a:defRPr>
            </a:pPr>
            <a:r>
              <a:rPr sz="1575">
                <a:solidFill>
                  <a:srgbClr val="334E68"/>
                </a:solidFill>
                <a:latin typeface="Arial"/>
                <a:ea typeface="Arial"/>
                <a:cs typeface="Arial"/>
              </a:rPr>
              <a:t>Show global feature importance and individual factors that influenced an estimate.</a:t>
            </a:r>
          </a:p>
        </p:txBody>
      </p:sp>
      <p:sp>
        <p:nvSpPr>
          <p:cNvPr id="10" name="">
            <a:extLst xmlns:a="http://schemas.openxmlformats.org/drawingml/2006/main">
              <a:ext uri="{FF2B5EF4-FFF2-40B4-BE49-F238E27FC236}">
                <a16:creationId xmlns:a16="http://schemas.microsoft.com/office/drawing/2014/main" id="{9C8A5E55-E711-4FFD-800D-1D5FA7F5E91F}"/>
              </a:ext>
            </a:extLst>
          </p:cNvPr>
          <p:cNvSpPr>
            <a:spLocks xmlns:a="http://schemas.openxmlformats.org/drawingml/2006/main" noGrp="1"/>
          </p:cNvSpPr>
          <p:nvPr/>
        </p:nvSpPr>
        <p:spPr>
          <a:xfrm xmlns:a="http://schemas.openxmlformats.org/drawingml/2006/main">
            <a:off x="8058150" y="333375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168C83"/>
                </a:solidFill>
                <a:latin typeface="Arial"/>
                <a:ea typeface="Arial"/>
                <a:cs typeface="Arial"/>
              </a:defRPr>
            </a:defPPr>
          </a:lstStyle>
          <a:p xmlns:a="http://schemas.openxmlformats.org/drawingml/2006/main">
            <a:pPr>
              <a:defRPr sz="1275" b="1">
                <a:solidFill>
                  <a:srgbClr val="168C83"/>
                </a:solidFill>
                <a:latin typeface="Arial"/>
                <a:ea typeface="Arial"/>
                <a:cs typeface="Arial"/>
              </a:defRPr>
            </a:pPr>
            <a:r>
              <a:rPr sz="1275" b="1">
                <a:solidFill>
                  <a:srgbClr val="168C83"/>
                </a:solidFill>
                <a:latin typeface="Arial"/>
                <a:ea typeface="Arial"/>
                <a:cs typeface="Arial"/>
              </a:rPr>
              <a:t>SUPPORT</a:t>
            </a:r>
          </a:p>
        </p:txBody>
      </p:sp>
      <p:sp>
        <p:nvSpPr>
          <p:cNvPr id="11" name="">
            <a:extLst xmlns:a="http://schemas.openxmlformats.org/drawingml/2006/main">
              <a:ext uri="{FF2B5EF4-FFF2-40B4-BE49-F238E27FC236}">
                <a16:creationId xmlns:a16="http://schemas.microsoft.com/office/drawing/2014/main" id="{4AA6ED34-7925-4243-9CA3-DD22B77CEC12}"/>
              </a:ext>
            </a:extLst>
          </p:cNvPr>
          <p:cNvSpPr>
            <a:spLocks xmlns:a="http://schemas.openxmlformats.org/drawingml/2006/main" noGrp="1"/>
          </p:cNvSpPr>
          <p:nvPr/>
        </p:nvSpPr>
        <p:spPr>
          <a:xfrm xmlns:a="http://schemas.openxmlformats.org/drawingml/2006/main">
            <a:off x="8058150" y="3724275"/>
            <a:ext cx="3143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a:solidFill>
                  <a:srgbClr val="334E68"/>
                </a:solidFill>
                <a:latin typeface="Arial"/>
                <a:ea typeface="Arial"/>
                <a:cs typeface="Arial"/>
              </a:defRPr>
            </a:defPPr>
          </a:lstStyle>
          <a:p xmlns:a="http://schemas.openxmlformats.org/drawingml/2006/main">
            <a:pPr>
              <a:defRPr sz="1575">
                <a:solidFill>
                  <a:srgbClr val="334E68"/>
                </a:solidFill>
                <a:latin typeface="Arial"/>
                <a:ea typeface="Arial"/>
                <a:cs typeface="Arial"/>
              </a:defRPr>
            </a:pPr>
            <a:r>
              <a:rPr sz="1575">
                <a:solidFill>
                  <a:srgbClr val="334E68"/>
                </a:solidFill>
                <a:latin typeface="Arial"/>
                <a:ea typeface="Arial"/>
                <a:cs typeface="Arial"/>
              </a:rPr>
              <a:t>Surface risk bands, study recommendations, and what-if simulations for human review.</a:t>
            </a:r>
          </a:p>
        </p:txBody>
      </p:sp>
      <p:sp>
        <p:nvSpPr>
          <p:cNvPr id="12" name="">
            <a:extLst xmlns:a="http://schemas.openxmlformats.org/drawingml/2006/main">
              <a:ext uri="{FF2B5EF4-FFF2-40B4-BE49-F238E27FC236}">
                <a16:creationId xmlns:a16="http://schemas.microsoft.com/office/drawing/2014/main" id="{ABE8C9B2-4F07-41EF-8591-A87A7E19CBC0}"/>
              </a:ext>
            </a:extLst>
          </p:cNvPr>
          <p:cNvSpPr>
            <a:spLocks xmlns:a="http://schemas.openxmlformats.org/drawingml/2006/main" noGrp="1"/>
          </p:cNvSpPr>
          <p:nvPr/>
        </p:nvSpPr>
        <p:spPr>
          <a:xfrm xmlns:a="http://schemas.openxmlformats.org/drawingml/2006/main">
            <a:off x="609600" y="5619750"/>
            <a:ext cx="1047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627D98"/>
                </a:solidFill>
                <a:latin typeface="Arial"/>
                <a:ea typeface="Arial"/>
                <a:cs typeface="Arial"/>
              </a:defRPr>
            </a:defPPr>
          </a:lstStyle>
          <a:p xmlns:a="http://schemas.openxmlformats.org/drawingml/2006/main">
            <a:pPr>
              <a:defRPr sz="1350">
                <a:solidFill>
                  <a:srgbClr val="627D98"/>
                </a:solidFill>
                <a:latin typeface="Arial"/>
                <a:ea typeface="Arial"/>
                <a:cs typeface="Arial"/>
              </a:defRPr>
            </a:pPr>
            <a:r>
              <a:rPr sz="1350">
                <a:solidFill>
                  <a:srgbClr val="627D98"/>
                </a:solidFill>
                <a:latin typeface="Arial"/>
                <a:ea typeface="Arial"/>
                <a:cs typeface="Arial"/>
              </a:rPr>
              <a:t>Every estimate is decision support, not a judgment of ability or a guaranteed outcome.</a:t>
            </a:r>
          </a:p>
        </p:txBody>
      </p:sp>
    </p:spTree>
    <p:extLst>
      <p:ext uri="{BB962C8B-B14F-4D97-AF65-F5344CB8AC3E}">
        <p14:creationId xmlns:p14="http://schemas.microsoft.com/office/powerpoint/2010/main" val="1140109011"/>
      </p:ext>
    </p:extLst>
  </p:cSld>
</p:sld>
</file>

<file path=ppt/slides/slide3.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04E95E7-84C7-4E20-8AC9-AF58A30280FB}"/>
              </a:ext>
            </a:extLst>
          </p:cNvPr>
          <p:cNvSpPr>
            <a:spLocks xmlns:a="http://schemas.openxmlformats.org/drawingml/2006/main" noGrp="1"/>
          </p:cNvSpPr>
          <p:nvPr/>
        </p:nvSpPr>
        <p:spPr>
          <a:xfrm xmlns:a="http://schemas.openxmlformats.org/drawingml/2006/main">
            <a:off x="609600" y="266700"/>
            <a:ext cx="3619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168C83"/>
                </a:solidFill>
                <a:latin typeface="Arial"/>
                <a:ea typeface="Arial"/>
                <a:cs typeface="Arial"/>
              </a:defRPr>
            </a:defPPr>
          </a:lstStyle>
          <a:p xmlns:a="http://schemas.openxmlformats.org/drawingml/2006/main">
            <a:pPr>
              <a:defRPr sz="1125" b="1">
                <a:solidFill>
                  <a:srgbClr val="168C83"/>
                </a:solidFill>
                <a:latin typeface="Arial"/>
                <a:ea typeface="Arial"/>
                <a:cs typeface="Arial"/>
              </a:defRPr>
            </a:pPr>
            <a:r>
              <a:rPr sz="1125" b="1">
                <a:solidFill>
                  <a:srgbClr val="168C83"/>
                </a:solidFill>
                <a:latin typeface="Arial"/>
                <a:ea typeface="Arial"/>
                <a:cs typeface="Arial"/>
              </a:rPr>
              <a:t>TREKVERSE AI ACADEMY</a:t>
            </a:r>
          </a:p>
        </p:txBody>
      </p:sp>
      <p:sp>
        <p:nvSpPr>
          <p:cNvPr id="2" name="">
            <a:extLst xmlns:a="http://schemas.openxmlformats.org/drawingml/2006/main">
              <a:ext uri="{FF2B5EF4-FFF2-40B4-BE49-F238E27FC236}">
                <a16:creationId xmlns:a16="http://schemas.microsoft.com/office/drawing/2014/main" id="{84E0EE9E-A88D-4DCC-9E5E-C88BB644C137}"/>
              </a:ext>
            </a:extLst>
          </p:cNvPr>
          <p:cNvSpPr>
            <a:spLocks xmlns:a="http://schemas.openxmlformats.org/drawingml/2006/main" noGrp="1"/>
          </p:cNvSpPr>
          <p:nvPr/>
        </p:nvSpPr>
        <p:spPr>
          <a:xfrm xmlns:a="http://schemas.openxmlformats.org/drawingml/2006/main">
            <a:off x="9191625" y="28575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627D98"/>
                </a:solidFill>
                <a:latin typeface="Arial"/>
                <a:ea typeface="Arial"/>
                <a:cs typeface="Arial"/>
              </a:defRPr>
            </a:defPPr>
          </a:lstStyle>
          <a:p xmlns:a="http://schemas.openxmlformats.org/drawingml/2006/main">
            <a:pPr>
              <a:defRPr sz="975" b="1">
                <a:solidFill>
                  <a:srgbClr val="627D98"/>
                </a:solidFill>
                <a:latin typeface="Arial"/>
                <a:ea typeface="Arial"/>
                <a:cs typeface="Arial"/>
              </a:defRPr>
            </a:pPr>
            <a:r>
              <a:rPr sz="975" b="1">
                <a:solidFill>
                  <a:srgbClr val="627D98"/>
                </a:solidFill>
                <a:latin typeface="Arial"/>
                <a:ea typeface="Arial"/>
                <a:cs typeface="Arial"/>
              </a:rPr>
              <a:t>APPLICATION</a:t>
            </a:r>
          </a:p>
        </p:txBody>
      </p:sp>
      <p:sp>
        <p:nvSpPr>
          <p:cNvPr id="3" name="">
            <a:extLst xmlns:a="http://schemas.openxmlformats.org/drawingml/2006/main">
              <a:ext uri="{FF2B5EF4-FFF2-40B4-BE49-F238E27FC236}">
                <a16:creationId xmlns:a16="http://schemas.microsoft.com/office/drawing/2014/main" id="{FA6D710B-9726-4121-BC9E-16C1B29E1FF5}"/>
              </a:ext>
            </a:extLst>
          </p:cNvPr>
          <p:cNvSpPr>
            <a:spLocks xmlns:a="http://schemas.openxmlformats.org/drawingml/2006/main" noGrp="1"/>
          </p:cNvSpPr>
          <p:nvPr/>
        </p:nvSpPr>
        <p:spPr>
          <a:xfrm xmlns:a="http://schemas.openxmlformats.org/drawingml/2006/main">
            <a:off x="609600" y="733425"/>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000" b="1">
                <a:solidFill>
                  <a:srgbClr val="102A43"/>
                </a:solidFill>
                <a:latin typeface="Arial"/>
                <a:ea typeface="Arial"/>
                <a:cs typeface="Arial"/>
              </a:defRPr>
            </a:defPPr>
          </a:lstStyle>
          <a:p xmlns:a="http://schemas.openxmlformats.org/drawingml/2006/main">
            <a:pPr>
              <a:defRPr sz="3000" b="1">
                <a:solidFill>
                  <a:srgbClr val="102A43"/>
                </a:solidFill>
                <a:latin typeface="Arial"/>
                <a:ea typeface="Arial"/>
                <a:cs typeface="Arial"/>
              </a:defRPr>
            </a:pPr>
            <a:r>
              <a:rPr sz="3000" b="1">
                <a:solidFill>
                  <a:srgbClr val="102A43"/>
                </a:solidFill>
                <a:latin typeface="Arial"/>
                <a:ea typeface="Arial"/>
                <a:cs typeface="Arial"/>
              </a:rPr>
              <a:t>Role-based workflows</a:t>
            </a:r>
          </a:p>
        </p:txBody>
      </p:sp>
      <p:sp>
        <p:nvSpPr>
          <p:cNvPr id="4" name="">
            <a:extLst xmlns:a="http://schemas.openxmlformats.org/drawingml/2006/main">
              <a:ext uri="{FF2B5EF4-FFF2-40B4-BE49-F238E27FC236}">
                <a16:creationId xmlns:a16="http://schemas.microsoft.com/office/drawing/2014/main" id="{165B903B-0477-423E-A12D-C183E06CE469}"/>
              </a:ext>
            </a:extLst>
          </p:cNvPr>
          <p:cNvSpPr>
            <a:spLocks xmlns:a="http://schemas.openxmlformats.org/drawingml/2006/main" noGrp="1"/>
          </p:cNvSpPr>
          <p:nvPr/>
        </p:nvSpPr>
        <p:spPr>
          <a:xfrm xmlns:a="http://schemas.openxmlformats.org/drawingml/2006/main">
            <a:off x="609600" y="1438275"/>
            <a:ext cx="723900" cy="47625"/>
          </a:xfrm>
          <a:prstGeom xmlns:a="http://schemas.openxmlformats.org/drawingml/2006/main" prst="rect">
            <a:avLst/>
          </a:prstGeom>
          <a:solidFill xmlns:a="http://schemas.openxmlformats.org/drawingml/2006/main">
            <a:srgbClr val="168C83"/>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700BC8A-5BB2-4926-9D68-7D2AC4F07F60}"/>
              </a:ext>
            </a:extLst>
          </p:cNvPr>
          <p:cNvSpPr>
            <a:spLocks xmlns:a="http://schemas.openxmlformats.org/drawingml/2006/main" noGrp="1"/>
          </p:cNvSpPr>
          <p:nvPr/>
        </p:nvSpPr>
        <p:spPr>
          <a:xfrm xmlns:a="http://schemas.openxmlformats.org/drawingml/2006/main">
            <a:off x="609600" y="1952625"/>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168C83"/>
                </a:solidFill>
                <a:latin typeface="Arial"/>
                <a:ea typeface="Arial"/>
                <a:cs typeface="Arial"/>
              </a:defRPr>
            </a:defPPr>
          </a:lstStyle>
          <a:p xmlns:a="http://schemas.openxmlformats.org/drawingml/2006/main">
            <a:pPr>
              <a:defRPr sz="1275" b="1">
                <a:solidFill>
                  <a:srgbClr val="168C83"/>
                </a:solidFill>
                <a:latin typeface="Arial"/>
                <a:ea typeface="Arial"/>
                <a:cs typeface="Arial"/>
              </a:defRPr>
            </a:pPr>
            <a:r>
              <a:rPr sz="1275" b="1">
                <a:solidFill>
                  <a:srgbClr val="168C83"/>
                </a:solidFill>
                <a:latin typeface="Arial"/>
                <a:ea typeface="Arial"/>
                <a:cs typeface="Arial"/>
              </a:rPr>
              <a:t>ADMIN</a:t>
            </a:r>
          </a:p>
        </p:txBody>
      </p:sp>
      <p:sp>
        <p:nvSpPr>
          <p:cNvPr id="6" name="">
            <a:extLst xmlns:a="http://schemas.openxmlformats.org/drawingml/2006/main">
              <a:ext uri="{FF2B5EF4-FFF2-40B4-BE49-F238E27FC236}">
                <a16:creationId xmlns:a16="http://schemas.microsoft.com/office/drawing/2014/main" id="{0B34E748-4F76-4C31-9BB4-1150EF5749C6}"/>
              </a:ext>
            </a:extLst>
          </p:cNvPr>
          <p:cNvSpPr>
            <a:spLocks xmlns:a="http://schemas.openxmlformats.org/drawingml/2006/main" noGrp="1"/>
          </p:cNvSpPr>
          <p:nvPr/>
        </p:nvSpPr>
        <p:spPr>
          <a:xfrm xmlns:a="http://schemas.openxmlformats.org/drawingml/2006/main">
            <a:off x="609600" y="2381250"/>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1">
                <a:solidFill>
                  <a:srgbClr val="102A43"/>
                </a:solidFill>
                <a:latin typeface="Arial"/>
                <a:ea typeface="Arial"/>
                <a:cs typeface="Arial"/>
              </a:defRPr>
            </a:defPPr>
          </a:lstStyle>
          <a:p xmlns:a="http://schemas.openxmlformats.org/drawingml/2006/main">
            <a:pPr>
              <a:defRPr sz="1950" b="1">
                <a:solidFill>
                  <a:srgbClr val="102A43"/>
                </a:solidFill>
                <a:latin typeface="Arial"/>
                <a:ea typeface="Arial"/>
                <a:cs typeface="Arial"/>
              </a:defRPr>
            </a:pPr>
            <a:r>
              <a:rPr sz="1950" b="1">
                <a:solidFill>
                  <a:srgbClr val="102A43"/>
                </a:solidFill>
                <a:latin typeface="Arial"/>
                <a:ea typeface="Arial"/>
                <a:cs typeface="Arial"/>
              </a:rPr>
              <a:t>Prepare the system</a:t>
            </a:r>
          </a:p>
        </p:txBody>
      </p:sp>
      <p:sp>
        <p:nvSpPr>
          <p:cNvPr id="7" name="">
            <a:extLst xmlns:a="http://schemas.openxmlformats.org/drawingml/2006/main">
              <a:ext uri="{FF2B5EF4-FFF2-40B4-BE49-F238E27FC236}">
                <a16:creationId xmlns:a16="http://schemas.microsoft.com/office/drawing/2014/main" id="{CB603E77-6B36-4838-8B56-CCA4EDA28775}"/>
              </a:ext>
            </a:extLst>
          </p:cNvPr>
          <p:cNvSpPr>
            <a:spLocks xmlns:a="http://schemas.openxmlformats.org/drawingml/2006/main" noGrp="1"/>
          </p:cNvSpPr>
          <p:nvPr/>
        </p:nvSpPr>
        <p:spPr>
          <a:xfrm xmlns:a="http://schemas.openxmlformats.org/drawingml/2006/main">
            <a:off x="609600" y="3057525"/>
            <a:ext cx="3238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a:solidFill>
                  <a:srgbClr val="334E68"/>
                </a:solidFill>
                <a:latin typeface="Arial"/>
                <a:ea typeface="Arial"/>
                <a:cs typeface="Arial"/>
              </a:defRPr>
            </a:defPPr>
          </a:lstStyle>
          <a:p xmlns:a="http://schemas.openxmlformats.org/drawingml/2006/main">
            <a:pPr>
              <a:defRPr sz="1500">
                <a:solidFill>
                  <a:srgbClr val="334E68"/>
                </a:solidFill>
                <a:latin typeface="Arial"/>
                <a:ea typeface="Arial"/>
                <a:cs typeface="Arial"/>
              </a:defRPr>
            </a:pPr>
            <a:r>
              <a:rPr sz="1500">
                <a:solidFill>
                  <a:srgbClr val="334E68"/>
                </a:solidFill>
                <a:latin typeface="Arial"/>
                <a:ea typeface="Arial"/>
                <a:cs typeface="Arial"/>
              </a:rPr>
              <a:t>Validate CSV or Excel records</a:t>
            </a:r>
          </a:p>
          <a:p xmlns:a="http://schemas.openxmlformats.org/drawingml/2006/main">
            <a:pPr>
              <a:defRPr sz="1500">
                <a:solidFill>
                  <a:srgbClr val="334E68"/>
                </a:solidFill>
                <a:latin typeface="Arial"/>
                <a:ea typeface="Arial"/>
                <a:cs typeface="Arial"/>
              </a:defRPr>
            </a:pPr>
            <a:r>
              <a:rPr sz="1500">
                <a:solidFill>
                  <a:srgbClr val="334E68"/>
                </a:solidFill>
                <a:latin typeface="Arial"/>
                <a:ea typeface="Arial"/>
                <a:cs typeface="Arial"/>
              </a:rPr>
              <a:t>Create faculty and student accounts</a:t>
            </a:r>
          </a:p>
          <a:p xmlns:a="http://schemas.openxmlformats.org/drawingml/2006/main">
            <a:pPr>
              <a:defRPr sz="1500">
                <a:solidFill>
                  <a:srgbClr val="334E68"/>
                </a:solidFill>
                <a:latin typeface="Arial"/>
                <a:ea typeface="Arial"/>
                <a:cs typeface="Arial"/>
              </a:defRPr>
            </a:pPr>
            <a:r>
              <a:rPr sz="1500">
                <a:solidFill>
                  <a:srgbClr val="334E68"/>
                </a:solidFill>
                <a:latin typeface="Arial"/>
                <a:ea typeface="Arial"/>
                <a:cs typeface="Arial"/>
              </a:rPr>
              <a:t>Train the institution model</a:t>
            </a:r>
          </a:p>
        </p:txBody>
      </p:sp>
      <p:sp>
        <p:nvSpPr>
          <p:cNvPr id="8" name="">
            <a:extLst xmlns:a="http://schemas.openxmlformats.org/drawingml/2006/main">
              <a:ext uri="{FF2B5EF4-FFF2-40B4-BE49-F238E27FC236}">
                <a16:creationId xmlns:a16="http://schemas.microsoft.com/office/drawing/2014/main" id="{A6F11EFC-8FF9-44AA-A4B3-74AEB3F2570D}"/>
              </a:ext>
            </a:extLst>
          </p:cNvPr>
          <p:cNvSpPr>
            <a:spLocks xmlns:a="http://schemas.openxmlformats.org/drawingml/2006/main" noGrp="1"/>
          </p:cNvSpPr>
          <p:nvPr/>
        </p:nvSpPr>
        <p:spPr>
          <a:xfrm xmlns:a="http://schemas.openxmlformats.org/drawingml/2006/main">
            <a:off x="4333875" y="1952625"/>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168C83"/>
                </a:solidFill>
                <a:latin typeface="Arial"/>
                <a:ea typeface="Arial"/>
                <a:cs typeface="Arial"/>
              </a:defRPr>
            </a:defPPr>
          </a:lstStyle>
          <a:p xmlns:a="http://schemas.openxmlformats.org/drawingml/2006/main">
            <a:pPr>
              <a:defRPr sz="1275" b="1">
                <a:solidFill>
                  <a:srgbClr val="168C83"/>
                </a:solidFill>
                <a:latin typeface="Arial"/>
                <a:ea typeface="Arial"/>
                <a:cs typeface="Arial"/>
              </a:defRPr>
            </a:pPr>
            <a:r>
              <a:rPr sz="1275" b="1">
                <a:solidFill>
                  <a:srgbClr val="168C83"/>
                </a:solidFill>
                <a:latin typeface="Arial"/>
                <a:ea typeface="Arial"/>
                <a:cs typeface="Arial"/>
              </a:rPr>
              <a:t>FACULTY</a:t>
            </a:r>
          </a:p>
        </p:txBody>
      </p:sp>
      <p:sp>
        <p:nvSpPr>
          <p:cNvPr id="9" name="">
            <a:extLst xmlns:a="http://schemas.openxmlformats.org/drawingml/2006/main">
              <a:ext uri="{FF2B5EF4-FFF2-40B4-BE49-F238E27FC236}">
                <a16:creationId xmlns:a16="http://schemas.microsoft.com/office/drawing/2014/main" id="{778819C5-42B2-4DA4-8E3E-5971F15E42DC}"/>
              </a:ext>
            </a:extLst>
          </p:cNvPr>
          <p:cNvSpPr>
            <a:spLocks xmlns:a="http://schemas.openxmlformats.org/drawingml/2006/main" noGrp="1"/>
          </p:cNvSpPr>
          <p:nvPr/>
        </p:nvSpPr>
        <p:spPr>
          <a:xfrm xmlns:a="http://schemas.openxmlformats.org/drawingml/2006/main">
            <a:off x="4333875" y="2381250"/>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1">
                <a:solidFill>
                  <a:srgbClr val="102A43"/>
                </a:solidFill>
                <a:latin typeface="Arial"/>
                <a:ea typeface="Arial"/>
                <a:cs typeface="Arial"/>
              </a:defRPr>
            </a:defPPr>
          </a:lstStyle>
          <a:p xmlns:a="http://schemas.openxmlformats.org/drawingml/2006/main">
            <a:pPr>
              <a:defRPr sz="1950" b="1">
                <a:solidFill>
                  <a:srgbClr val="102A43"/>
                </a:solidFill>
                <a:latin typeface="Arial"/>
                <a:ea typeface="Arial"/>
                <a:cs typeface="Arial"/>
              </a:defRPr>
            </a:pPr>
            <a:r>
              <a:rPr sz="1950" b="1">
                <a:solidFill>
                  <a:srgbClr val="102A43"/>
                </a:solidFill>
                <a:latin typeface="Arial"/>
                <a:ea typeface="Arial"/>
                <a:cs typeface="Arial"/>
              </a:rPr>
              <a:t>Review and intervene</a:t>
            </a:r>
          </a:p>
        </p:txBody>
      </p:sp>
      <p:sp>
        <p:nvSpPr>
          <p:cNvPr id="10" name="">
            <a:extLst xmlns:a="http://schemas.openxmlformats.org/drawingml/2006/main">
              <a:ext uri="{FF2B5EF4-FFF2-40B4-BE49-F238E27FC236}">
                <a16:creationId xmlns:a16="http://schemas.microsoft.com/office/drawing/2014/main" id="{7E820CA4-5C5B-4AAC-847C-D631515A108E}"/>
              </a:ext>
            </a:extLst>
          </p:cNvPr>
          <p:cNvSpPr>
            <a:spLocks xmlns:a="http://schemas.openxmlformats.org/drawingml/2006/main" noGrp="1"/>
          </p:cNvSpPr>
          <p:nvPr/>
        </p:nvSpPr>
        <p:spPr>
          <a:xfrm xmlns:a="http://schemas.openxmlformats.org/drawingml/2006/main">
            <a:off x="4333875" y="3057525"/>
            <a:ext cx="3238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a:solidFill>
                  <a:srgbClr val="334E68"/>
                </a:solidFill>
                <a:latin typeface="Arial"/>
                <a:ea typeface="Arial"/>
                <a:cs typeface="Arial"/>
              </a:defRPr>
            </a:defPPr>
          </a:lstStyle>
          <a:p xmlns:a="http://schemas.openxmlformats.org/drawingml/2006/main">
            <a:pPr>
              <a:defRPr sz="1500">
                <a:solidFill>
                  <a:srgbClr val="334E68"/>
                </a:solidFill>
                <a:latin typeface="Arial"/>
                <a:ea typeface="Arial"/>
                <a:cs typeface="Arial"/>
              </a:defRPr>
            </a:pPr>
            <a:r>
              <a:rPr sz="1500">
                <a:solidFill>
                  <a:srgbClr val="334E68"/>
                </a:solidFill>
                <a:latin typeface="Arial"/>
                <a:ea typeface="Arial"/>
                <a:cs typeface="Arial"/>
              </a:rPr>
              <a:t>Monitor cohort and attendance</a:t>
            </a:r>
          </a:p>
          <a:p xmlns:a="http://schemas.openxmlformats.org/drawingml/2006/main">
            <a:pPr>
              <a:defRPr sz="1500">
                <a:solidFill>
                  <a:srgbClr val="334E68"/>
                </a:solidFill>
                <a:latin typeface="Arial"/>
                <a:ea typeface="Arial"/>
                <a:cs typeface="Arial"/>
              </a:defRPr>
            </a:pPr>
            <a:r>
              <a:rPr sz="1500">
                <a:solidFill>
                  <a:srgbClr val="334E68"/>
                </a:solidFill>
                <a:latin typeface="Arial"/>
                <a:ea typeface="Arial"/>
                <a:cs typeface="Arial"/>
              </a:rPr>
              <a:t>Compare student and subject trends</a:t>
            </a:r>
          </a:p>
          <a:p xmlns:a="http://schemas.openxmlformats.org/drawingml/2006/main">
            <a:pPr>
              <a:defRPr sz="1500">
                <a:solidFill>
                  <a:srgbClr val="334E68"/>
                </a:solidFill>
                <a:latin typeface="Arial"/>
                <a:ea typeface="Arial"/>
                <a:cs typeface="Arial"/>
              </a:defRPr>
            </a:pPr>
            <a:r>
              <a:rPr sz="1500">
                <a:solidFill>
                  <a:srgbClr val="334E68"/>
                </a:solidFill>
                <a:latin typeface="Arial"/>
                <a:ea typeface="Arial"/>
                <a:cs typeface="Arial"/>
              </a:rPr>
              <a:t>Update records and export reports</a:t>
            </a:r>
          </a:p>
        </p:txBody>
      </p:sp>
      <p:sp>
        <p:nvSpPr>
          <p:cNvPr id="11" name="">
            <a:extLst xmlns:a="http://schemas.openxmlformats.org/drawingml/2006/main">
              <a:ext uri="{FF2B5EF4-FFF2-40B4-BE49-F238E27FC236}">
                <a16:creationId xmlns:a16="http://schemas.microsoft.com/office/drawing/2014/main" id="{312FF7A7-FFF9-45FF-97C6-7471A0469214}"/>
              </a:ext>
            </a:extLst>
          </p:cNvPr>
          <p:cNvSpPr>
            <a:spLocks xmlns:a="http://schemas.openxmlformats.org/drawingml/2006/main" noGrp="1"/>
          </p:cNvSpPr>
          <p:nvPr/>
        </p:nvSpPr>
        <p:spPr>
          <a:xfrm xmlns:a="http://schemas.openxmlformats.org/drawingml/2006/main">
            <a:off x="8058150" y="1952625"/>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168C83"/>
                </a:solidFill>
                <a:latin typeface="Arial"/>
                <a:ea typeface="Arial"/>
                <a:cs typeface="Arial"/>
              </a:defRPr>
            </a:defPPr>
          </a:lstStyle>
          <a:p xmlns:a="http://schemas.openxmlformats.org/drawingml/2006/main">
            <a:pPr>
              <a:defRPr sz="1275" b="1">
                <a:solidFill>
                  <a:srgbClr val="168C83"/>
                </a:solidFill>
                <a:latin typeface="Arial"/>
                <a:ea typeface="Arial"/>
                <a:cs typeface="Arial"/>
              </a:defRPr>
            </a:pPr>
            <a:r>
              <a:rPr sz="1275" b="1">
                <a:solidFill>
                  <a:srgbClr val="168C83"/>
                </a:solidFill>
                <a:latin typeface="Arial"/>
                <a:ea typeface="Arial"/>
                <a:cs typeface="Arial"/>
              </a:rPr>
              <a:t>STUDENT</a:t>
            </a:r>
          </a:p>
        </p:txBody>
      </p:sp>
      <p:sp>
        <p:nvSpPr>
          <p:cNvPr id="12" name="">
            <a:extLst xmlns:a="http://schemas.openxmlformats.org/drawingml/2006/main">
              <a:ext uri="{FF2B5EF4-FFF2-40B4-BE49-F238E27FC236}">
                <a16:creationId xmlns:a16="http://schemas.microsoft.com/office/drawing/2014/main" id="{303FE4D9-0EDD-42CA-A595-3F393A5FFB04}"/>
              </a:ext>
            </a:extLst>
          </p:cNvPr>
          <p:cNvSpPr>
            <a:spLocks xmlns:a="http://schemas.openxmlformats.org/drawingml/2006/main" noGrp="1"/>
          </p:cNvSpPr>
          <p:nvPr/>
        </p:nvSpPr>
        <p:spPr>
          <a:xfrm xmlns:a="http://schemas.openxmlformats.org/drawingml/2006/main">
            <a:off x="8058150" y="2381250"/>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1">
                <a:solidFill>
                  <a:srgbClr val="102A43"/>
                </a:solidFill>
                <a:latin typeface="Arial"/>
                <a:ea typeface="Arial"/>
                <a:cs typeface="Arial"/>
              </a:defRPr>
            </a:defPPr>
          </a:lstStyle>
          <a:p xmlns:a="http://schemas.openxmlformats.org/drawingml/2006/main">
            <a:pPr>
              <a:defRPr sz="1950" b="1">
                <a:solidFill>
                  <a:srgbClr val="102A43"/>
                </a:solidFill>
                <a:latin typeface="Arial"/>
                <a:ea typeface="Arial"/>
                <a:cs typeface="Arial"/>
              </a:defRPr>
            </a:pPr>
            <a:r>
              <a:rPr sz="1950" b="1">
                <a:solidFill>
                  <a:srgbClr val="102A43"/>
                </a:solidFill>
                <a:latin typeface="Arial"/>
                <a:ea typeface="Arial"/>
                <a:cs typeface="Arial"/>
              </a:rPr>
              <a:t>Understand progress</a:t>
            </a:r>
          </a:p>
        </p:txBody>
      </p:sp>
      <p:sp>
        <p:nvSpPr>
          <p:cNvPr id="13" name="">
            <a:extLst xmlns:a="http://schemas.openxmlformats.org/drawingml/2006/main">
              <a:ext uri="{FF2B5EF4-FFF2-40B4-BE49-F238E27FC236}">
                <a16:creationId xmlns:a16="http://schemas.microsoft.com/office/drawing/2014/main" id="{E7D1A28F-B113-4CDE-8EDF-F786B210B92E}"/>
              </a:ext>
            </a:extLst>
          </p:cNvPr>
          <p:cNvSpPr>
            <a:spLocks xmlns:a="http://schemas.openxmlformats.org/drawingml/2006/main" noGrp="1"/>
          </p:cNvSpPr>
          <p:nvPr/>
        </p:nvSpPr>
        <p:spPr>
          <a:xfrm xmlns:a="http://schemas.openxmlformats.org/drawingml/2006/main">
            <a:off x="8058150" y="3057525"/>
            <a:ext cx="3238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a:solidFill>
                  <a:srgbClr val="334E68"/>
                </a:solidFill>
                <a:latin typeface="Arial"/>
                <a:ea typeface="Arial"/>
                <a:cs typeface="Arial"/>
              </a:defRPr>
            </a:defPPr>
          </a:lstStyle>
          <a:p xmlns:a="http://schemas.openxmlformats.org/drawingml/2006/main">
            <a:pPr>
              <a:defRPr sz="1500">
                <a:solidFill>
                  <a:srgbClr val="334E68"/>
                </a:solidFill>
                <a:latin typeface="Arial"/>
                <a:ea typeface="Arial"/>
                <a:cs typeface="Arial"/>
              </a:defRPr>
            </a:pPr>
            <a:r>
              <a:rPr sz="1500">
                <a:solidFill>
                  <a:srgbClr val="334E68"/>
                </a:solidFill>
                <a:latin typeface="Arial"/>
                <a:ea typeface="Arial"/>
                <a:cs typeface="Arial"/>
              </a:rPr>
              <a:t>View own academic profile</a:t>
            </a:r>
          </a:p>
          <a:p xmlns:a="http://schemas.openxmlformats.org/drawingml/2006/main">
            <a:pPr>
              <a:defRPr sz="1500">
                <a:solidFill>
                  <a:srgbClr val="334E68"/>
                </a:solidFill>
                <a:latin typeface="Arial"/>
                <a:ea typeface="Arial"/>
                <a:cs typeface="Arial"/>
              </a:defRPr>
            </a:pPr>
            <a:r>
              <a:rPr sz="1500">
                <a:solidFill>
                  <a:srgbClr val="334E68"/>
                </a:solidFill>
                <a:latin typeface="Arial"/>
                <a:ea typeface="Arial"/>
                <a:cs typeface="Arial"/>
              </a:rPr>
              <a:t>Review subject and semester history</a:t>
            </a:r>
          </a:p>
          <a:p xmlns:a="http://schemas.openxmlformats.org/drawingml/2006/main">
            <a:pPr>
              <a:defRPr sz="1500">
                <a:solidFill>
                  <a:srgbClr val="334E68"/>
                </a:solidFill>
                <a:latin typeface="Arial"/>
                <a:ea typeface="Arial"/>
                <a:cs typeface="Arial"/>
              </a:defRPr>
            </a:pPr>
            <a:r>
              <a:rPr sz="1500">
                <a:solidFill>
                  <a:srgbClr val="334E68"/>
                </a:solidFill>
                <a:latin typeface="Arial"/>
                <a:ea typeface="Arial"/>
                <a:cs typeface="Arial"/>
              </a:rPr>
              <a:t>Use study plan and what-if tools</a:t>
            </a:r>
          </a:p>
        </p:txBody>
      </p:sp>
      <p:sp>
        <p:nvSpPr>
          <p:cNvPr id="14" name="">
            <a:extLst xmlns:a="http://schemas.openxmlformats.org/drawingml/2006/main">
              <a:ext uri="{FF2B5EF4-FFF2-40B4-BE49-F238E27FC236}">
                <a16:creationId xmlns:a16="http://schemas.microsoft.com/office/drawing/2014/main" id="{4405B599-CD8F-4E35-AFE3-B18A5AD2B311}"/>
              </a:ext>
            </a:extLst>
          </p:cNvPr>
          <p:cNvSpPr>
            <a:spLocks xmlns:a="http://schemas.openxmlformats.org/drawingml/2006/main" noGrp="1"/>
          </p:cNvSpPr>
          <p:nvPr/>
        </p:nvSpPr>
        <p:spPr>
          <a:xfrm xmlns:a="http://schemas.openxmlformats.org/drawingml/2006/main">
            <a:off x="609600" y="5619750"/>
            <a:ext cx="1066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627D98"/>
                </a:solidFill>
                <a:latin typeface="Arial"/>
                <a:ea typeface="Arial"/>
                <a:cs typeface="Arial"/>
              </a:defRPr>
            </a:defPPr>
          </a:lstStyle>
          <a:p xmlns:a="http://schemas.openxmlformats.org/drawingml/2006/main">
            <a:pPr>
              <a:defRPr sz="1350">
                <a:solidFill>
                  <a:srgbClr val="627D98"/>
                </a:solidFill>
                <a:latin typeface="Arial"/>
                <a:ea typeface="Arial"/>
                <a:cs typeface="Arial"/>
              </a:defRPr>
            </a:pPr>
            <a:r>
              <a:rPr sz="1350">
                <a:solidFill>
                  <a:srgbClr val="627D98"/>
                </a:solidFill>
                <a:latin typeface="Arial"/>
                <a:ea typeface="Arial"/>
                <a:cs typeface="Arial"/>
              </a:rPr>
              <a:t>Student accounts are linked to an imported Student_ID. Faculty and students see role-specific views.</a:t>
            </a:r>
          </a:p>
        </p:txBody>
      </p:sp>
    </p:spTree>
    <p:extLst>
      <p:ext uri="{BB962C8B-B14F-4D97-AF65-F5344CB8AC3E}">
        <p14:creationId xmlns:p14="http://schemas.microsoft.com/office/powerpoint/2010/main" val="1487959255"/>
      </p:ext>
    </p:extLst>
  </p:cSld>
</p:sld>
</file>

<file path=ppt/slides/slide4.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8E98ECAB-8785-456F-9931-91E730DA17AB}"/>
              </a:ext>
            </a:extLst>
          </p:cNvPr>
          <p:cNvSpPr>
            <a:spLocks xmlns:a="http://schemas.openxmlformats.org/drawingml/2006/main" noGrp="1"/>
          </p:cNvSpPr>
          <p:nvPr/>
        </p:nvSpPr>
        <p:spPr>
          <a:xfrm xmlns:a="http://schemas.openxmlformats.org/drawingml/2006/main">
            <a:off x="609600" y="266700"/>
            <a:ext cx="3619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168C83"/>
                </a:solidFill>
                <a:latin typeface="Arial"/>
                <a:ea typeface="Arial"/>
                <a:cs typeface="Arial"/>
              </a:defRPr>
            </a:defPPr>
          </a:lstStyle>
          <a:p xmlns:a="http://schemas.openxmlformats.org/drawingml/2006/main">
            <a:pPr>
              <a:defRPr sz="1125" b="1">
                <a:solidFill>
                  <a:srgbClr val="168C83"/>
                </a:solidFill>
                <a:latin typeface="Arial"/>
                <a:ea typeface="Arial"/>
                <a:cs typeface="Arial"/>
              </a:defRPr>
            </a:pPr>
            <a:r>
              <a:rPr sz="1125" b="1">
                <a:solidFill>
                  <a:srgbClr val="168C83"/>
                </a:solidFill>
                <a:latin typeface="Arial"/>
                <a:ea typeface="Arial"/>
                <a:cs typeface="Arial"/>
              </a:rPr>
              <a:t>TREKVERSE AI ACADEMY</a:t>
            </a:r>
          </a:p>
        </p:txBody>
      </p:sp>
      <p:sp>
        <p:nvSpPr>
          <p:cNvPr id="2" name="">
            <a:extLst xmlns:a="http://schemas.openxmlformats.org/drawingml/2006/main">
              <a:ext uri="{FF2B5EF4-FFF2-40B4-BE49-F238E27FC236}">
                <a16:creationId xmlns:a16="http://schemas.microsoft.com/office/drawing/2014/main" id="{612005EA-E5A1-4355-892D-34C1D731E4AC}"/>
              </a:ext>
            </a:extLst>
          </p:cNvPr>
          <p:cNvSpPr>
            <a:spLocks xmlns:a="http://schemas.openxmlformats.org/drawingml/2006/main" noGrp="1"/>
          </p:cNvSpPr>
          <p:nvPr/>
        </p:nvSpPr>
        <p:spPr>
          <a:xfrm xmlns:a="http://schemas.openxmlformats.org/drawingml/2006/main">
            <a:off x="9191625" y="28575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627D98"/>
                </a:solidFill>
                <a:latin typeface="Arial"/>
                <a:ea typeface="Arial"/>
                <a:cs typeface="Arial"/>
              </a:defRPr>
            </a:defPPr>
          </a:lstStyle>
          <a:p xmlns:a="http://schemas.openxmlformats.org/drawingml/2006/main">
            <a:pPr>
              <a:defRPr sz="975" b="1">
                <a:solidFill>
                  <a:srgbClr val="627D98"/>
                </a:solidFill>
                <a:latin typeface="Arial"/>
                <a:ea typeface="Arial"/>
                <a:cs typeface="Arial"/>
              </a:defRPr>
            </a:pPr>
            <a:r>
              <a:rPr sz="975" b="1">
                <a:solidFill>
                  <a:srgbClr val="627D98"/>
                </a:solidFill>
                <a:latin typeface="Arial"/>
                <a:ea typeface="Arial"/>
                <a:cs typeface="Arial"/>
              </a:rPr>
              <a:t>METHOD</a:t>
            </a:r>
          </a:p>
        </p:txBody>
      </p:sp>
      <p:sp>
        <p:nvSpPr>
          <p:cNvPr id="3" name="">
            <a:extLst xmlns:a="http://schemas.openxmlformats.org/drawingml/2006/main">
              <a:ext uri="{FF2B5EF4-FFF2-40B4-BE49-F238E27FC236}">
                <a16:creationId xmlns:a16="http://schemas.microsoft.com/office/drawing/2014/main" id="{3E15918E-8497-400E-A200-6EF121BC6836}"/>
              </a:ext>
            </a:extLst>
          </p:cNvPr>
          <p:cNvSpPr>
            <a:spLocks xmlns:a="http://schemas.openxmlformats.org/drawingml/2006/main" noGrp="1"/>
          </p:cNvSpPr>
          <p:nvPr/>
        </p:nvSpPr>
        <p:spPr>
          <a:xfrm xmlns:a="http://schemas.openxmlformats.org/drawingml/2006/main">
            <a:off x="609600" y="733425"/>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000" b="1">
                <a:solidFill>
                  <a:srgbClr val="102A43"/>
                </a:solidFill>
                <a:latin typeface="Arial"/>
                <a:ea typeface="Arial"/>
                <a:cs typeface="Arial"/>
              </a:defRPr>
            </a:defPPr>
          </a:lstStyle>
          <a:p xmlns:a="http://schemas.openxmlformats.org/drawingml/2006/main">
            <a:pPr>
              <a:defRPr sz="3000" b="1">
                <a:solidFill>
                  <a:srgbClr val="102A43"/>
                </a:solidFill>
                <a:latin typeface="Arial"/>
                <a:ea typeface="Arial"/>
                <a:cs typeface="Arial"/>
              </a:defRPr>
            </a:pPr>
            <a:r>
              <a:rPr sz="3000" b="1">
                <a:solidFill>
                  <a:srgbClr val="102A43"/>
                </a:solidFill>
                <a:latin typeface="Arial"/>
                <a:ea typeface="Arial"/>
                <a:cs typeface="Arial"/>
              </a:rPr>
              <a:t>Data and model workflow</a:t>
            </a:r>
          </a:p>
        </p:txBody>
      </p:sp>
      <p:sp>
        <p:nvSpPr>
          <p:cNvPr id="4" name="">
            <a:extLst xmlns:a="http://schemas.openxmlformats.org/drawingml/2006/main">
              <a:ext uri="{FF2B5EF4-FFF2-40B4-BE49-F238E27FC236}">
                <a16:creationId xmlns:a16="http://schemas.microsoft.com/office/drawing/2014/main" id="{72B922D8-8AA5-41ED-9A62-BF0CCE444358}"/>
              </a:ext>
            </a:extLst>
          </p:cNvPr>
          <p:cNvSpPr>
            <a:spLocks xmlns:a="http://schemas.openxmlformats.org/drawingml/2006/main" noGrp="1"/>
          </p:cNvSpPr>
          <p:nvPr/>
        </p:nvSpPr>
        <p:spPr>
          <a:xfrm xmlns:a="http://schemas.openxmlformats.org/drawingml/2006/main">
            <a:off x="609600" y="1438275"/>
            <a:ext cx="723900" cy="47625"/>
          </a:xfrm>
          <a:prstGeom xmlns:a="http://schemas.openxmlformats.org/drawingml/2006/main" prst="rect">
            <a:avLst/>
          </a:prstGeom>
          <a:solidFill xmlns:a="http://schemas.openxmlformats.org/drawingml/2006/main">
            <a:srgbClr val="168C83"/>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1700438-8A1E-4FB8-A1ED-DCF99299C2C4}"/>
              </a:ext>
            </a:extLst>
          </p:cNvPr>
          <p:cNvSpPr>
            <a:spLocks xmlns:a="http://schemas.openxmlformats.org/drawingml/2006/main" noGrp="1"/>
          </p:cNvSpPr>
          <p:nvPr/>
        </p:nvSpPr>
        <p:spPr>
          <a:xfrm xmlns:a="http://schemas.openxmlformats.org/drawingml/2006/main">
            <a:off x="628650" y="1924050"/>
            <a:ext cx="57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168C83"/>
                </a:solidFill>
                <a:latin typeface="Arial"/>
                <a:ea typeface="Arial"/>
                <a:cs typeface="Arial"/>
              </a:defRPr>
            </a:defPPr>
          </a:lstStyle>
          <a:p xmlns:a="http://schemas.openxmlformats.org/drawingml/2006/main">
            <a:pPr>
              <a:defRPr sz="1500" b="1">
                <a:solidFill>
                  <a:srgbClr val="168C83"/>
                </a:solidFill>
                <a:latin typeface="Arial"/>
                <a:ea typeface="Arial"/>
                <a:cs typeface="Arial"/>
              </a:defRPr>
            </a:pPr>
            <a:r>
              <a:rPr sz="1500" b="1">
                <a:solidFill>
                  <a:srgbClr val="168C83"/>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DC09F22A-9DD2-4C60-8D21-BA8F1A5138B3}"/>
              </a:ext>
            </a:extLst>
          </p:cNvPr>
          <p:cNvSpPr>
            <a:spLocks xmlns:a="http://schemas.openxmlformats.org/drawingml/2006/main" noGrp="1"/>
          </p:cNvSpPr>
          <p:nvPr/>
        </p:nvSpPr>
        <p:spPr>
          <a:xfrm xmlns:a="http://schemas.openxmlformats.org/drawingml/2006/main">
            <a:off x="1371600" y="1924050"/>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102A43"/>
                </a:solidFill>
                <a:latin typeface="Arial"/>
                <a:ea typeface="Arial"/>
                <a:cs typeface="Arial"/>
              </a:defRPr>
            </a:defPPr>
          </a:lstStyle>
          <a:p xmlns:a="http://schemas.openxmlformats.org/drawingml/2006/main">
            <a:pPr>
              <a:defRPr sz="1575" b="1">
                <a:solidFill>
                  <a:srgbClr val="102A43"/>
                </a:solidFill>
                <a:latin typeface="Arial"/>
                <a:ea typeface="Arial"/>
                <a:cs typeface="Arial"/>
              </a:defRPr>
            </a:pPr>
            <a:r>
              <a:rPr sz="1575" b="1">
                <a:solidFill>
                  <a:srgbClr val="102A43"/>
                </a:solidFill>
                <a:latin typeface="Arial"/>
                <a:ea typeface="Arial"/>
                <a:cs typeface="Arial"/>
              </a:rPr>
              <a:t>Source</a:t>
            </a:r>
          </a:p>
        </p:txBody>
      </p:sp>
      <p:sp>
        <p:nvSpPr>
          <p:cNvPr id="7" name="">
            <a:extLst xmlns:a="http://schemas.openxmlformats.org/drawingml/2006/main">
              <a:ext uri="{FF2B5EF4-FFF2-40B4-BE49-F238E27FC236}">
                <a16:creationId xmlns:a16="http://schemas.microsoft.com/office/drawing/2014/main" id="{C39EAF1F-7F5B-469B-8972-F2639D3135B9}"/>
              </a:ext>
            </a:extLst>
          </p:cNvPr>
          <p:cNvSpPr>
            <a:spLocks xmlns:a="http://schemas.openxmlformats.org/drawingml/2006/main" noGrp="1"/>
          </p:cNvSpPr>
          <p:nvPr/>
        </p:nvSpPr>
        <p:spPr>
          <a:xfrm xmlns:a="http://schemas.openxmlformats.org/drawingml/2006/main">
            <a:off x="3143250" y="1924050"/>
            <a:ext cx="8096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a:solidFill>
                  <a:srgbClr val="334E68"/>
                </a:solidFill>
                <a:latin typeface="Arial"/>
                <a:ea typeface="Arial"/>
                <a:cs typeface="Arial"/>
              </a:defRPr>
            </a:defPPr>
          </a:lstStyle>
          <a:p xmlns:a="http://schemas.openxmlformats.org/drawingml/2006/main">
            <a:pPr>
              <a:defRPr sz="1425">
                <a:solidFill>
                  <a:srgbClr val="334E68"/>
                </a:solidFill>
                <a:latin typeface="Arial"/>
                <a:ea typeface="Arial"/>
                <a:cs typeface="Arial"/>
              </a:defRPr>
            </a:pPr>
            <a:r>
              <a:rPr sz="1425">
                <a:solidFill>
                  <a:srgbClr val="334E68"/>
                </a:solidFill>
                <a:latin typeface="Arial"/>
                <a:ea typeface="Arial"/>
                <a:cs typeface="Arial"/>
              </a:rPr>
              <a:t>UCI Mathematics and Portuguese records; institution CSV or Excel</a:t>
            </a:r>
          </a:p>
        </p:txBody>
      </p:sp>
      <p:sp>
        <p:nvSpPr>
          <p:cNvPr id="8" name="">
            <a:extLst xmlns:a="http://schemas.openxmlformats.org/drawingml/2006/main">
              <a:ext uri="{FF2B5EF4-FFF2-40B4-BE49-F238E27FC236}">
                <a16:creationId xmlns:a16="http://schemas.microsoft.com/office/drawing/2014/main" id="{A9FFFDE2-8CB0-4613-A58E-37C63D972764}"/>
              </a:ext>
            </a:extLst>
          </p:cNvPr>
          <p:cNvSpPr>
            <a:spLocks xmlns:a="http://schemas.openxmlformats.org/drawingml/2006/main" noGrp="1"/>
          </p:cNvSpPr>
          <p:nvPr/>
        </p:nvSpPr>
        <p:spPr>
          <a:xfrm xmlns:a="http://schemas.openxmlformats.org/drawingml/2006/main">
            <a:off x="1371600" y="2476500"/>
            <a:ext cx="9620250" cy="9525"/>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B5EB91B-D037-40E5-A2FA-EF407AC0622B}"/>
              </a:ext>
            </a:extLst>
          </p:cNvPr>
          <p:cNvSpPr>
            <a:spLocks xmlns:a="http://schemas.openxmlformats.org/drawingml/2006/main" noGrp="1"/>
          </p:cNvSpPr>
          <p:nvPr/>
        </p:nvSpPr>
        <p:spPr>
          <a:xfrm xmlns:a="http://schemas.openxmlformats.org/drawingml/2006/main">
            <a:off x="628650" y="2714625"/>
            <a:ext cx="57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168C83"/>
                </a:solidFill>
                <a:latin typeface="Arial"/>
                <a:ea typeface="Arial"/>
                <a:cs typeface="Arial"/>
              </a:defRPr>
            </a:defPPr>
          </a:lstStyle>
          <a:p xmlns:a="http://schemas.openxmlformats.org/drawingml/2006/main">
            <a:pPr>
              <a:defRPr sz="1500" b="1">
                <a:solidFill>
                  <a:srgbClr val="168C83"/>
                </a:solidFill>
                <a:latin typeface="Arial"/>
                <a:ea typeface="Arial"/>
                <a:cs typeface="Arial"/>
              </a:defRPr>
            </a:pPr>
            <a:r>
              <a:rPr sz="1500" b="1">
                <a:solidFill>
                  <a:srgbClr val="168C83"/>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AE251762-DC03-4C65-AA11-6A0768D2E847}"/>
              </a:ext>
            </a:extLst>
          </p:cNvPr>
          <p:cNvSpPr>
            <a:spLocks xmlns:a="http://schemas.openxmlformats.org/drawingml/2006/main" noGrp="1"/>
          </p:cNvSpPr>
          <p:nvPr/>
        </p:nvSpPr>
        <p:spPr>
          <a:xfrm xmlns:a="http://schemas.openxmlformats.org/drawingml/2006/main">
            <a:off x="1371600" y="2714625"/>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102A43"/>
                </a:solidFill>
                <a:latin typeface="Arial"/>
                <a:ea typeface="Arial"/>
                <a:cs typeface="Arial"/>
              </a:defRPr>
            </a:defPPr>
          </a:lstStyle>
          <a:p xmlns:a="http://schemas.openxmlformats.org/drawingml/2006/main">
            <a:pPr>
              <a:defRPr sz="1575" b="1">
                <a:solidFill>
                  <a:srgbClr val="102A43"/>
                </a:solidFill>
                <a:latin typeface="Arial"/>
                <a:ea typeface="Arial"/>
                <a:cs typeface="Arial"/>
              </a:defRPr>
            </a:pPr>
            <a:r>
              <a:rPr sz="1575" b="1">
                <a:solidFill>
                  <a:srgbClr val="102A43"/>
                </a:solidFill>
                <a:latin typeface="Arial"/>
                <a:ea typeface="Arial"/>
                <a:cs typeface="Arial"/>
              </a:rPr>
              <a:t>Validate</a:t>
            </a:r>
          </a:p>
        </p:txBody>
      </p:sp>
      <p:sp>
        <p:nvSpPr>
          <p:cNvPr id="11" name="">
            <a:extLst xmlns:a="http://schemas.openxmlformats.org/drawingml/2006/main">
              <a:ext uri="{FF2B5EF4-FFF2-40B4-BE49-F238E27FC236}">
                <a16:creationId xmlns:a16="http://schemas.microsoft.com/office/drawing/2014/main" id="{1D09C757-CD3C-4489-BE1A-06EFE4E3FB25}"/>
              </a:ext>
            </a:extLst>
          </p:cNvPr>
          <p:cNvSpPr>
            <a:spLocks xmlns:a="http://schemas.openxmlformats.org/drawingml/2006/main" noGrp="1"/>
          </p:cNvSpPr>
          <p:nvPr/>
        </p:nvSpPr>
        <p:spPr>
          <a:xfrm xmlns:a="http://schemas.openxmlformats.org/drawingml/2006/main">
            <a:off x="3143250" y="2714625"/>
            <a:ext cx="8096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a:solidFill>
                  <a:srgbClr val="334E68"/>
                </a:solidFill>
                <a:latin typeface="Arial"/>
                <a:ea typeface="Arial"/>
                <a:cs typeface="Arial"/>
              </a:defRPr>
            </a:defPPr>
          </a:lstStyle>
          <a:p xmlns:a="http://schemas.openxmlformats.org/drawingml/2006/main">
            <a:pPr>
              <a:defRPr sz="1425">
                <a:solidFill>
                  <a:srgbClr val="334E68"/>
                </a:solidFill>
                <a:latin typeface="Arial"/>
                <a:ea typeface="Arial"/>
                <a:cs typeface="Arial"/>
              </a:defRPr>
            </a:pPr>
            <a:r>
              <a:rPr sz="1425">
                <a:solidFill>
                  <a:srgbClr val="334E68"/>
                </a:solidFill>
                <a:latin typeface="Arial"/>
                <a:ea typeface="Arial"/>
                <a:cs typeface="Arial"/>
              </a:rPr>
              <a:t>Check schema, missing values, duplicates, ranges, outliers, and categories</a:t>
            </a:r>
          </a:p>
        </p:txBody>
      </p:sp>
      <p:sp>
        <p:nvSpPr>
          <p:cNvPr id="12" name="">
            <a:extLst xmlns:a="http://schemas.openxmlformats.org/drawingml/2006/main">
              <a:ext uri="{FF2B5EF4-FFF2-40B4-BE49-F238E27FC236}">
                <a16:creationId xmlns:a16="http://schemas.microsoft.com/office/drawing/2014/main" id="{E013E66A-82F4-47DB-AA08-A4D378528A70}"/>
              </a:ext>
            </a:extLst>
          </p:cNvPr>
          <p:cNvSpPr>
            <a:spLocks xmlns:a="http://schemas.openxmlformats.org/drawingml/2006/main" noGrp="1"/>
          </p:cNvSpPr>
          <p:nvPr/>
        </p:nvSpPr>
        <p:spPr>
          <a:xfrm xmlns:a="http://schemas.openxmlformats.org/drawingml/2006/main">
            <a:off x="1371600" y="3267075"/>
            <a:ext cx="9620250" cy="9525"/>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270EAD9-DDAA-4FC6-A182-5947220B2A45}"/>
              </a:ext>
            </a:extLst>
          </p:cNvPr>
          <p:cNvSpPr>
            <a:spLocks xmlns:a="http://schemas.openxmlformats.org/drawingml/2006/main" noGrp="1"/>
          </p:cNvSpPr>
          <p:nvPr/>
        </p:nvSpPr>
        <p:spPr>
          <a:xfrm xmlns:a="http://schemas.openxmlformats.org/drawingml/2006/main">
            <a:off x="628650" y="3505200"/>
            <a:ext cx="57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168C83"/>
                </a:solidFill>
                <a:latin typeface="Arial"/>
                <a:ea typeface="Arial"/>
                <a:cs typeface="Arial"/>
              </a:defRPr>
            </a:defPPr>
          </a:lstStyle>
          <a:p xmlns:a="http://schemas.openxmlformats.org/drawingml/2006/main">
            <a:pPr>
              <a:defRPr sz="1500" b="1">
                <a:solidFill>
                  <a:srgbClr val="168C83"/>
                </a:solidFill>
                <a:latin typeface="Arial"/>
                <a:ea typeface="Arial"/>
                <a:cs typeface="Arial"/>
              </a:defRPr>
            </a:pPr>
            <a:r>
              <a:rPr sz="1500" b="1">
                <a:solidFill>
                  <a:srgbClr val="168C83"/>
                </a:solidFill>
                <a:latin typeface="Arial"/>
                <a:ea typeface="Arial"/>
                <a:cs typeface="Arial"/>
              </a:rPr>
              <a:t>03</a:t>
            </a:r>
          </a:p>
        </p:txBody>
      </p:sp>
      <p:sp>
        <p:nvSpPr>
          <p:cNvPr id="14" name="">
            <a:extLst xmlns:a="http://schemas.openxmlformats.org/drawingml/2006/main">
              <a:ext uri="{FF2B5EF4-FFF2-40B4-BE49-F238E27FC236}">
                <a16:creationId xmlns:a16="http://schemas.microsoft.com/office/drawing/2014/main" id="{119F77FF-4942-4FDD-9131-D64E5AA62AC6}"/>
              </a:ext>
            </a:extLst>
          </p:cNvPr>
          <p:cNvSpPr>
            <a:spLocks xmlns:a="http://schemas.openxmlformats.org/drawingml/2006/main" noGrp="1"/>
          </p:cNvSpPr>
          <p:nvPr/>
        </p:nvSpPr>
        <p:spPr>
          <a:xfrm xmlns:a="http://schemas.openxmlformats.org/drawingml/2006/main">
            <a:off x="1371600" y="3505200"/>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102A43"/>
                </a:solidFill>
                <a:latin typeface="Arial"/>
                <a:ea typeface="Arial"/>
                <a:cs typeface="Arial"/>
              </a:defRPr>
            </a:defPPr>
          </a:lstStyle>
          <a:p xmlns:a="http://schemas.openxmlformats.org/drawingml/2006/main">
            <a:pPr>
              <a:defRPr sz="1575" b="1">
                <a:solidFill>
                  <a:srgbClr val="102A43"/>
                </a:solidFill>
                <a:latin typeface="Arial"/>
                <a:ea typeface="Arial"/>
                <a:cs typeface="Arial"/>
              </a:defRPr>
            </a:pPr>
            <a:r>
              <a:rPr sz="1575" b="1">
                <a:solidFill>
                  <a:srgbClr val="102A43"/>
                </a:solidFill>
                <a:latin typeface="Arial"/>
                <a:ea typeface="Arial"/>
                <a:cs typeface="Arial"/>
              </a:rPr>
              <a:t>Prepare</a:t>
            </a:r>
          </a:p>
        </p:txBody>
      </p:sp>
      <p:sp>
        <p:nvSpPr>
          <p:cNvPr id="15" name="">
            <a:extLst xmlns:a="http://schemas.openxmlformats.org/drawingml/2006/main">
              <a:ext uri="{FF2B5EF4-FFF2-40B4-BE49-F238E27FC236}">
                <a16:creationId xmlns:a16="http://schemas.microsoft.com/office/drawing/2014/main" id="{173D4322-3BCD-4E79-9B28-6A8CEFB09FA7}"/>
              </a:ext>
            </a:extLst>
          </p:cNvPr>
          <p:cNvSpPr>
            <a:spLocks xmlns:a="http://schemas.openxmlformats.org/drawingml/2006/main" noGrp="1"/>
          </p:cNvSpPr>
          <p:nvPr/>
        </p:nvSpPr>
        <p:spPr>
          <a:xfrm xmlns:a="http://schemas.openxmlformats.org/drawingml/2006/main">
            <a:off x="3143250" y="3505200"/>
            <a:ext cx="8096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a:solidFill>
                  <a:srgbClr val="334E68"/>
                </a:solidFill>
                <a:latin typeface="Arial"/>
                <a:ea typeface="Arial"/>
                <a:cs typeface="Arial"/>
              </a:defRPr>
            </a:defPPr>
          </a:lstStyle>
          <a:p xmlns:a="http://schemas.openxmlformats.org/drawingml/2006/main">
            <a:pPr>
              <a:defRPr sz="1425">
                <a:solidFill>
                  <a:srgbClr val="334E68"/>
                </a:solidFill>
                <a:latin typeface="Arial"/>
                <a:ea typeface="Arial"/>
                <a:cs typeface="Arial"/>
              </a:defRPr>
            </a:pPr>
            <a:r>
              <a:rPr sz="1425">
                <a:solidFill>
                  <a:srgbClr val="334E68"/>
                </a:solidFill>
                <a:latin typeface="Arial"/>
                <a:ea typeface="Arial"/>
                <a:cs typeface="Arial"/>
              </a:rPr>
              <a:t>Impute within pipelines; engineer engagement and attendance features</a:t>
            </a:r>
          </a:p>
        </p:txBody>
      </p:sp>
      <p:sp>
        <p:nvSpPr>
          <p:cNvPr id="16" name="">
            <a:extLst xmlns:a="http://schemas.openxmlformats.org/drawingml/2006/main">
              <a:ext uri="{FF2B5EF4-FFF2-40B4-BE49-F238E27FC236}">
                <a16:creationId xmlns:a16="http://schemas.microsoft.com/office/drawing/2014/main" id="{E2CA5E6D-A15A-4B39-98A9-D22D9192FF73}"/>
              </a:ext>
            </a:extLst>
          </p:cNvPr>
          <p:cNvSpPr>
            <a:spLocks xmlns:a="http://schemas.openxmlformats.org/drawingml/2006/main" noGrp="1"/>
          </p:cNvSpPr>
          <p:nvPr/>
        </p:nvSpPr>
        <p:spPr>
          <a:xfrm xmlns:a="http://schemas.openxmlformats.org/drawingml/2006/main">
            <a:off x="1371600" y="4057650"/>
            <a:ext cx="9620250" cy="9525"/>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BA0DEB9-81D1-4E03-B0F7-E5052CDE7535}"/>
              </a:ext>
            </a:extLst>
          </p:cNvPr>
          <p:cNvSpPr>
            <a:spLocks xmlns:a="http://schemas.openxmlformats.org/drawingml/2006/main" noGrp="1"/>
          </p:cNvSpPr>
          <p:nvPr/>
        </p:nvSpPr>
        <p:spPr>
          <a:xfrm xmlns:a="http://schemas.openxmlformats.org/drawingml/2006/main">
            <a:off x="628650" y="4295775"/>
            <a:ext cx="57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168C83"/>
                </a:solidFill>
                <a:latin typeface="Arial"/>
                <a:ea typeface="Arial"/>
                <a:cs typeface="Arial"/>
              </a:defRPr>
            </a:defPPr>
          </a:lstStyle>
          <a:p xmlns:a="http://schemas.openxmlformats.org/drawingml/2006/main">
            <a:pPr>
              <a:defRPr sz="1500" b="1">
                <a:solidFill>
                  <a:srgbClr val="168C83"/>
                </a:solidFill>
                <a:latin typeface="Arial"/>
                <a:ea typeface="Arial"/>
                <a:cs typeface="Arial"/>
              </a:defRPr>
            </a:pPr>
            <a:r>
              <a:rPr sz="1500" b="1">
                <a:solidFill>
                  <a:srgbClr val="168C83"/>
                </a:solidFill>
                <a:latin typeface="Arial"/>
                <a:ea typeface="Arial"/>
                <a:cs typeface="Arial"/>
              </a:rPr>
              <a:t>04</a:t>
            </a:r>
          </a:p>
        </p:txBody>
      </p:sp>
      <p:sp>
        <p:nvSpPr>
          <p:cNvPr id="18" name="">
            <a:extLst xmlns:a="http://schemas.openxmlformats.org/drawingml/2006/main">
              <a:ext uri="{FF2B5EF4-FFF2-40B4-BE49-F238E27FC236}">
                <a16:creationId xmlns:a16="http://schemas.microsoft.com/office/drawing/2014/main" id="{5E057694-85D0-4C2F-8B00-E9D4D39CC7CC}"/>
              </a:ext>
            </a:extLst>
          </p:cNvPr>
          <p:cNvSpPr>
            <a:spLocks xmlns:a="http://schemas.openxmlformats.org/drawingml/2006/main" noGrp="1"/>
          </p:cNvSpPr>
          <p:nvPr/>
        </p:nvSpPr>
        <p:spPr>
          <a:xfrm xmlns:a="http://schemas.openxmlformats.org/drawingml/2006/main">
            <a:off x="1371600" y="4295775"/>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102A43"/>
                </a:solidFill>
                <a:latin typeface="Arial"/>
                <a:ea typeface="Arial"/>
                <a:cs typeface="Arial"/>
              </a:defRPr>
            </a:defPPr>
          </a:lstStyle>
          <a:p xmlns:a="http://schemas.openxmlformats.org/drawingml/2006/main">
            <a:pPr>
              <a:defRPr sz="1575" b="1">
                <a:solidFill>
                  <a:srgbClr val="102A43"/>
                </a:solidFill>
                <a:latin typeface="Arial"/>
                <a:ea typeface="Arial"/>
                <a:cs typeface="Arial"/>
              </a:defRPr>
            </a:pPr>
            <a:r>
              <a:rPr sz="1575" b="1">
                <a:solidFill>
                  <a:srgbClr val="102A43"/>
                </a:solidFill>
                <a:latin typeface="Arial"/>
                <a:ea typeface="Arial"/>
                <a:cs typeface="Arial"/>
              </a:rPr>
              <a:t>Evaluate</a:t>
            </a:r>
          </a:p>
        </p:txBody>
      </p:sp>
      <p:sp>
        <p:nvSpPr>
          <p:cNvPr id="19" name="">
            <a:extLst xmlns:a="http://schemas.openxmlformats.org/drawingml/2006/main">
              <a:ext uri="{FF2B5EF4-FFF2-40B4-BE49-F238E27FC236}">
                <a16:creationId xmlns:a16="http://schemas.microsoft.com/office/drawing/2014/main" id="{1D6DFC07-51A4-47B8-9704-090B496FC184}"/>
              </a:ext>
            </a:extLst>
          </p:cNvPr>
          <p:cNvSpPr>
            <a:spLocks xmlns:a="http://schemas.openxmlformats.org/drawingml/2006/main" noGrp="1"/>
          </p:cNvSpPr>
          <p:nvPr/>
        </p:nvSpPr>
        <p:spPr>
          <a:xfrm xmlns:a="http://schemas.openxmlformats.org/drawingml/2006/main">
            <a:off x="3143250" y="4295775"/>
            <a:ext cx="8096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a:solidFill>
                  <a:srgbClr val="334E68"/>
                </a:solidFill>
                <a:latin typeface="Arial"/>
                <a:ea typeface="Arial"/>
                <a:cs typeface="Arial"/>
              </a:defRPr>
            </a:defPPr>
          </a:lstStyle>
          <a:p xmlns:a="http://schemas.openxmlformats.org/drawingml/2006/main">
            <a:pPr>
              <a:defRPr sz="1425">
                <a:solidFill>
                  <a:srgbClr val="334E68"/>
                </a:solidFill>
                <a:latin typeface="Arial"/>
                <a:ea typeface="Arial"/>
                <a:cs typeface="Arial"/>
              </a:defRPr>
            </a:pPr>
            <a:r>
              <a:rPr sz="1425">
                <a:solidFill>
                  <a:srgbClr val="334E68"/>
                </a:solidFill>
                <a:latin typeface="Arial"/>
                <a:ea typeface="Arial"/>
                <a:cs typeface="Arial"/>
              </a:rPr>
              <a:t>Compare baselines and candidate models; tune on training folds</a:t>
            </a:r>
          </a:p>
        </p:txBody>
      </p:sp>
      <p:sp>
        <p:nvSpPr>
          <p:cNvPr id="20" name="">
            <a:extLst xmlns:a="http://schemas.openxmlformats.org/drawingml/2006/main">
              <a:ext uri="{FF2B5EF4-FFF2-40B4-BE49-F238E27FC236}">
                <a16:creationId xmlns:a16="http://schemas.microsoft.com/office/drawing/2014/main" id="{A04D81E1-CC03-485C-82A0-3182D759176B}"/>
              </a:ext>
            </a:extLst>
          </p:cNvPr>
          <p:cNvSpPr>
            <a:spLocks xmlns:a="http://schemas.openxmlformats.org/drawingml/2006/main" noGrp="1"/>
          </p:cNvSpPr>
          <p:nvPr/>
        </p:nvSpPr>
        <p:spPr>
          <a:xfrm xmlns:a="http://schemas.openxmlformats.org/drawingml/2006/main">
            <a:off x="1371600" y="4848225"/>
            <a:ext cx="9620250" cy="9525"/>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15290A7D-D6D9-4721-98FA-E5A3C7BED5BE}"/>
              </a:ext>
            </a:extLst>
          </p:cNvPr>
          <p:cNvSpPr>
            <a:spLocks xmlns:a="http://schemas.openxmlformats.org/drawingml/2006/main" noGrp="1"/>
          </p:cNvSpPr>
          <p:nvPr/>
        </p:nvSpPr>
        <p:spPr>
          <a:xfrm xmlns:a="http://schemas.openxmlformats.org/drawingml/2006/main">
            <a:off x="628650" y="5086350"/>
            <a:ext cx="57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168C83"/>
                </a:solidFill>
                <a:latin typeface="Arial"/>
                <a:ea typeface="Arial"/>
                <a:cs typeface="Arial"/>
              </a:defRPr>
            </a:defPPr>
          </a:lstStyle>
          <a:p xmlns:a="http://schemas.openxmlformats.org/drawingml/2006/main">
            <a:pPr>
              <a:defRPr sz="1500" b="1">
                <a:solidFill>
                  <a:srgbClr val="168C83"/>
                </a:solidFill>
                <a:latin typeface="Arial"/>
                <a:ea typeface="Arial"/>
                <a:cs typeface="Arial"/>
              </a:defRPr>
            </a:pPr>
            <a:r>
              <a:rPr sz="1500" b="1">
                <a:solidFill>
                  <a:srgbClr val="168C83"/>
                </a:solidFill>
                <a:latin typeface="Arial"/>
                <a:ea typeface="Arial"/>
                <a:cs typeface="Arial"/>
              </a:rPr>
              <a:t>05</a:t>
            </a:r>
          </a:p>
        </p:txBody>
      </p:sp>
      <p:sp>
        <p:nvSpPr>
          <p:cNvPr id="22" name="">
            <a:extLst xmlns:a="http://schemas.openxmlformats.org/drawingml/2006/main">
              <a:ext uri="{FF2B5EF4-FFF2-40B4-BE49-F238E27FC236}">
                <a16:creationId xmlns:a16="http://schemas.microsoft.com/office/drawing/2014/main" id="{BB253962-EEBA-4FF8-AB1E-FA7920BCB225}"/>
              </a:ext>
            </a:extLst>
          </p:cNvPr>
          <p:cNvSpPr>
            <a:spLocks xmlns:a="http://schemas.openxmlformats.org/drawingml/2006/main" noGrp="1"/>
          </p:cNvSpPr>
          <p:nvPr/>
        </p:nvSpPr>
        <p:spPr>
          <a:xfrm xmlns:a="http://schemas.openxmlformats.org/drawingml/2006/main">
            <a:off x="1371600" y="5086350"/>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102A43"/>
                </a:solidFill>
                <a:latin typeface="Arial"/>
                <a:ea typeface="Arial"/>
                <a:cs typeface="Arial"/>
              </a:defRPr>
            </a:defPPr>
          </a:lstStyle>
          <a:p xmlns:a="http://schemas.openxmlformats.org/drawingml/2006/main">
            <a:pPr>
              <a:defRPr sz="1575" b="1">
                <a:solidFill>
                  <a:srgbClr val="102A43"/>
                </a:solidFill>
                <a:latin typeface="Arial"/>
                <a:ea typeface="Arial"/>
                <a:cs typeface="Arial"/>
              </a:defRPr>
            </a:pPr>
            <a:r>
              <a:rPr sz="1575" b="1">
                <a:solidFill>
                  <a:srgbClr val="102A43"/>
                </a:solidFill>
                <a:latin typeface="Arial"/>
                <a:ea typeface="Arial"/>
                <a:cs typeface="Arial"/>
              </a:rPr>
              <a:t>Support</a:t>
            </a:r>
          </a:p>
        </p:txBody>
      </p:sp>
      <p:sp>
        <p:nvSpPr>
          <p:cNvPr id="23" name="">
            <a:extLst xmlns:a="http://schemas.openxmlformats.org/drawingml/2006/main">
              <a:ext uri="{FF2B5EF4-FFF2-40B4-BE49-F238E27FC236}">
                <a16:creationId xmlns:a16="http://schemas.microsoft.com/office/drawing/2014/main" id="{A34ACC8D-E31E-4C21-8CA6-CC0F75CB4BF6}"/>
              </a:ext>
            </a:extLst>
          </p:cNvPr>
          <p:cNvSpPr>
            <a:spLocks xmlns:a="http://schemas.openxmlformats.org/drawingml/2006/main" noGrp="1"/>
          </p:cNvSpPr>
          <p:nvPr/>
        </p:nvSpPr>
        <p:spPr>
          <a:xfrm xmlns:a="http://schemas.openxmlformats.org/drawingml/2006/main">
            <a:off x="3143250" y="5086350"/>
            <a:ext cx="8096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a:solidFill>
                  <a:srgbClr val="334E68"/>
                </a:solidFill>
                <a:latin typeface="Arial"/>
                <a:ea typeface="Arial"/>
                <a:cs typeface="Arial"/>
              </a:defRPr>
            </a:defPPr>
          </a:lstStyle>
          <a:p xmlns:a="http://schemas.openxmlformats.org/drawingml/2006/main">
            <a:pPr>
              <a:defRPr sz="1425">
                <a:solidFill>
                  <a:srgbClr val="334E68"/>
                </a:solidFill>
                <a:latin typeface="Arial"/>
                <a:ea typeface="Arial"/>
                <a:cs typeface="Arial"/>
              </a:defRPr>
            </a:pPr>
            <a:r>
              <a:rPr sz="1425">
                <a:solidFill>
                  <a:srgbClr val="334E68"/>
                </a:solidFill>
                <a:latin typeface="Arial"/>
                <a:ea typeface="Arial"/>
                <a:cs typeface="Arial"/>
              </a:rPr>
              <a:t>Explain predictions; show risk bands, recommendations, and reports</a:t>
            </a:r>
          </a:p>
        </p:txBody>
      </p:sp>
    </p:spTree>
    <p:extLst>
      <p:ext uri="{BB962C8B-B14F-4D97-AF65-F5344CB8AC3E}">
        <p14:creationId xmlns:p14="http://schemas.microsoft.com/office/powerpoint/2010/main" val="1143306174"/>
      </p:ext>
    </p:extLst>
  </p:cSld>
</p:sld>
</file>

<file path=ppt/slides/slide5.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5582730-3691-4736-B800-2F05B2E5AF48}"/>
              </a:ext>
            </a:extLst>
          </p:cNvPr>
          <p:cNvSpPr>
            <a:spLocks xmlns:a="http://schemas.openxmlformats.org/drawingml/2006/main" noGrp="1"/>
          </p:cNvSpPr>
          <p:nvPr/>
        </p:nvSpPr>
        <p:spPr>
          <a:xfrm xmlns:a="http://schemas.openxmlformats.org/drawingml/2006/main">
            <a:off x="609600" y="266700"/>
            <a:ext cx="3619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168C83"/>
                </a:solidFill>
                <a:latin typeface="Arial"/>
                <a:ea typeface="Arial"/>
                <a:cs typeface="Arial"/>
              </a:defRPr>
            </a:defPPr>
          </a:lstStyle>
          <a:p xmlns:a="http://schemas.openxmlformats.org/drawingml/2006/main">
            <a:pPr>
              <a:defRPr sz="1125" b="1">
                <a:solidFill>
                  <a:srgbClr val="168C83"/>
                </a:solidFill>
                <a:latin typeface="Arial"/>
                <a:ea typeface="Arial"/>
                <a:cs typeface="Arial"/>
              </a:defRPr>
            </a:pPr>
            <a:r>
              <a:rPr sz="1125" b="1">
                <a:solidFill>
                  <a:srgbClr val="168C83"/>
                </a:solidFill>
                <a:latin typeface="Arial"/>
                <a:ea typeface="Arial"/>
                <a:cs typeface="Arial"/>
              </a:rPr>
              <a:t>TREKVERSE AI ACADEMY</a:t>
            </a:r>
          </a:p>
        </p:txBody>
      </p:sp>
      <p:sp>
        <p:nvSpPr>
          <p:cNvPr id="2" name="">
            <a:extLst xmlns:a="http://schemas.openxmlformats.org/drawingml/2006/main">
              <a:ext uri="{FF2B5EF4-FFF2-40B4-BE49-F238E27FC236}">
                <a16:creationId xmlns:a16="http://schemas.microsoft.com/office/drawing/2014/main" id="{85AAEF1B-578B-4D90-AB05-C5B0CBB95BD3}"/>
              </a:ext>
            </a:extLst>
          </p:cNvPr>
          <p:cNvSpPr>
            <a:spLocks xmlns:a="http://schemas.openxmlformats.org/drawingml/2006/main" noGrp="1"/>
          </p:cNvSpPr>
          <p:nvPr/>
        </p:nvSpPr>
        <p:spPr>
          <a:xfrm xmlns:a="http://schemas.openxmlformats.org/drawingml/2006/main">
            <a:off x="9191625" y="28575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627D98"/>
                </a:solidFill>
                <a:latin typeface="Arial"/>
                <a:ea typeface="Arial"/>
                <a:cs typeface="Arial"/>
              </a:defRPr>
            </a:defPPr>
          </a:lstStyle>
          <a:p xmlns:a="http://schemas.openxmlformats.org/drawingml/2006/main">
            <a:pPr>
              <a:defRPr sz="975" b="1">
                <a:solidFill>
                  <a:srgbClr val="627D98"/>
                </a:solidFill>
                <a:latin typeface="Arial"/>
                <a:ea typeface="Arial"/>
                <a:cs typeface="Arial"/>
              </a:defRPr>
            </a:pPr>
            <a:r>
              <a:rPr sz="975" b="1">
                <a:solidFill>
                  <a:srgbClr val="627D98"/>
                </a:solidFill>
                <a:latin typeface="Arial"/>
                <a:ea typeface="Arial"/>
                <a:cs typeface="Arial"/>
              </a:rPr>
              <a:t>MODELING</a:t>
            </a:r>
          </a:p>
        </p:txBody>
      </p:sp>
      <p:sp>
        <p:nvSpPr>
          <p:cNvPr id="3" name="">
            <a:extLst xmlns:a="http://schemas.openxmlformats.org/drawingml/2006/main">
              <a:ext uri="{FF2B5EF4-FFF2-40B4-BE49-F238E27FC236}">
                <a16:creationId xmlns:a16="http://schemas.microsoft.com/office/drawing/2014/main" id="{CEC1FC74-526A-4B23-855C-66E0162BF156}"/>
              </a:ext>
            </a:extLst>
          </p:cNvPr>
          <p:cNvSpPr>
            <a:spLocks xmlns:a="http://schemas.openxmlformats.org/drawingml/2006/main" noGrp="1"/>
          </p:cNvSpPr>
          <p:nvPr/>
        </p:nvSpPr>
        <p:spPr>
          <a:xfrm xmlns:a="http://schemas.openxmlformats.org/drawingml/2006/main">
            <a:off x="609600" y="733425"/>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000" b="1">
                <a:solidFill>
                  <a:srgbClr val="102A43"/>
                </a:solidFill>
                <a:latin typeface="Arial"/>
                <a:ea typeface="Arial"/>
                <a:cs typeface="Arial"/>
              </a:defRPr>
            </a:defPPr>
          </a:lstStyle>
          <a:p xmlns:a="http://schemas.openxmlformats.org/drawingml/2006/main">
            <a:pPr>
              <a:defRPr sz="3000" b="1">
                <a:solidFill>
                  <a:srgbClr val="102A43"/>
                </a:solidFill>
                <a:latin typeface="Arial"/>
                <a:ea typeface="Arial"/>
                <a:cs typeface="Arial"/>
              </a:defRPr>
            </a:pPr>
            <a:r>
              <a:rPr sz="3000" b="1">
                <a:solidFill>
                  <a:srgbClr val="102A43"/>
                </a:solidFill>
                <a:latin typeface="Arial"/>
                <a:ea typeface="Arial"/>
                <a:cs typeface="Arial"/>
              </a:rPr>
              <a:t>Model development and controls</a:t>
            </a:r>
          </a:p>
        </p:txBody>
      </p:sp>
      <p:sp>
        <p:nvSpPr>
          <p:cNvPr id="4" name="">
            <a:extLst xmlns:a="http://schemas.openxmlformats.org/drawingml/2006/main">
              <a:ext uri="{FF2B5EF4-FFF2-40B4-BE49-F238E27FC236}">
                <a16:creationId xmlns:a16="http://schemas.microsoft.com/office/drawing/2014/main" id="{E6C8D383-A345-4329-9621-09C73B11DBE4}"/>
              </a:ext>
            </a:extLst>
          </p:cNvPr>
          <p:cNvSpPr>
            <a:spLocks xmlns:a="http://schemas.openxmlformats.org/drawingml/2006/main" noGrp="1"/>
          </p:cNvSpPr>
          <p:nvPr/>
        </p:nvSpPr>
        <p:spPr>
          <a:xfrm xmlns:a="http://schemas.openxmlformats.org/drawingml/2006/main">
            <a:off x="609600" y="1438275"/>
            <a:ext cx="723900" cy="47625"/>
          </a:xfrm>
          <a:prstGeom xmlns:a="http://schemas.openxmlformats.org/drawingml/2006/main" prst="rect">
            <a:avLst/>
          </a:prstGeom>
          <a:solidFill xmlns:a="http://schemas.openxmlformats.org/drawingml/2006/main">
            <a:srgbClr val="168C83"/>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6BE3488-D697-495A-9E1E-782B671EA659}"/>
              </a:ext>
            </a:extLst>
          </p:cNvPr>
          <p:cNvSpPr>
            <a:spLocks xmlns:a="http://schemas.openxmlformats.org/drawingml/2006/main" noGrp="1"/>
          </p:cNvSpPr>
          <p:nvPr/>
        </p:nvSpPr>
        <p:spPr>
          <a:xfrm xmlns:a="http://schemas.openxmlformats.org/drawingml/2006/main">
            <a:off x="609600" y="1876425"/>
            <a:ext cx="4286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168C83"/>
                </a:solidFill>
                <a:latin typeface="Arial"/>
                <a:ea typeface="Arial"/>
                <a:cs typeface="Arial"/>
              </a:defRPr>
            </a:defPPr>
          </a:lstStyle>
          <a:p xmlns:a="http://schemas.openxmlformats.org/drawingml/2006/main">
            <a:pPr>
              <a:defRPr sz="1200" b="1">
                <a:solidFill>
                  <a:srgbClr val="168C83"/>
                </a:solidFill>
                <a:latin typeface="Arial"/>
                <a:ea typeface="Arial"/>
                <a:cs typeface="Arial"/>
              </a:defRPr>
            </a:pPr>
            <a:r>
              <a:rPr sz="1200" b="1">
                <a:solidFill>
                  <a:srgbClr val="168C83"/>
                </a:solidFill>
                <a:latin typeface="Arial"/>
                <a:ea typeface="Arial"/>
                <a:cs typeface="Arial"/>
              </a:rPr>
              <a:t>REFERENCE PIPELINE</a:t>
            </a:r>
          </a:p>
        </p:txBody>
      </p:sp>
      <p:sp>
        <p:nvSpPr>
          <p:cNvPr id="6" name="">
            <a:extLst xmlns:a="http://schemas.openxmlformats.org/drawingml/2006/main">
              <a:ext uri="{FF2B5EF4-FFF2-40B4-BE49-F238E27FC236}">
                <a16:creationId xmlns:a16="http://schemas.microsoft.com/office/drawing/2014/main" id="{15C57332-FABF-4ADF-A0D6-18D4B715410B}"/>
              </a:ext>
            </a:extLst>
          </p:cNvPr>
          <p:cNvSpPr>
            <a:spLocks xmlns:a="http://schemas.openxmlformats.org/drawingml/2006/main" noGrp="1"/>
          </p:cNvSpPr>
          <p:nvPr/>
        </p:nvSpPr>
        <p:spPr>
          <a:xfrm xmlns:a="http://schemas.openxmlformats.org/drawingml/2006/main">
            <a:off x="609600" y="2276475"/>
            <a:ext cx="5095875" cy="1666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a:solidFill>
                  <a:srgbClr val="334E68"/>
                </a:solidFill>
                <a:latin typeface="Arial"/>
                <a:ea typeface="Arial"/>
                <a:cs typeface="Arial"/>
              </a:defRPr>
            </a:defPPr>
          </a:lstStyle>
          <a:p xmlns:a="http://schemas.openxmlformats.org/drawingml/2006/main">
            <a:pPr>
              <a:defRPr sz="1575">
                <a:solidFill>
                  <a:srgbClr val="334E68"/>
                </a:solidFill>
                <a:latin typeface="Arial"/>
                <a:ea typeface="Arial"/>
                <a:cs typeface="Arial"/>
              </a:defRPr>
            </a:pPr>
            <a:r>
              <a:rPr sz="1575">
                <a:solidFill>
                  <a:srgbClr val="334E68"/>
                </a:solidFill>
                <a:latin typeface="Arial"/>
                <a:ea typeface="Arial"/>
                <a:cs typeface="Arial"/>
              </a:rPr>
              <a:t>Regression and support classification compare linear, tree, ensemble, SVM, and boosted models against simple baselines. Randomized search and cross-validation select the final models.</a:t>
            </a:r>
          </a:p>
        </p:txBody>
      </p:sp>
      <p:sp>
        <p:nvSpPr>
          <p:cNvPr id="7" name="">
            <a:extLst xmlns:a="http://schemas.openxmlformats.org/drawingml/2006/main">
              <a:ext uri="{FF2B5EF4-FFF2-40B4-BE49-F238E27FC236}">
                <a16:creationId xmlns:a16="http://schemas.microsoft.com/office/drawing/2014/main" id="{9042F8BE-EE3A-4C9C-BAD1-AE5DE249158E}"/>
              </a:ext>
            </a:extLst>
          </p:cNvPr>
          <p:cNvSpPr>
            <a:spLocks xmlns:a="http://schemas.openxmlformats.org/drawingml/2006/main" noGrp="1"/>
          </p:cNvSpPr>
          <p:nvPr/>
        </p:nvSpPr>
        <p:spPr>
          <a:xfrm xmlns:a="http://schemas.openxmlformats.org/drawingml/2006/main">
            <a:off x="6477000" y="1876425"/>
            <a:ext cx="4667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168C83"/>
                </a:solidFill>
                <a:latin typeface="Arial"/>
                <a:ea typeface="Arial"/>
                <a:cs typeface="Arial"/>
              </a:defRPr>
            </a:defPPr>
          </a:lstStyle>
          <a:p xmlns:a="http://schemas.openxmlformats.org/drawingml/2006/main">
            <a:pPr>
              <a:defRPr sz="1200" b="1">
                <a:solidFill>
                  <a:srgbClr val="168C83"/>
                </a:solidFill>
                <a:latin typeface="Arial"/>
                <a:ea typeface="Arial"/>
                <a:cs typeface="Arial"/>
              </a:defRPr>
            </a:pPr>
            <a:r>
              <a:rPr sz="1200" b="1">
                <a:solidFill>
                  <a:srgbClr val="168C83"/>
                </a:solidFill>
                <a:latin typeface="Arial"/>
                <a:ea typeface="Arial"/>
                <a:cs typeface="Arial"/>
              </a:rPr>
              <a:t>LEAKAGE AND FAIRNESS</a:t>
            </a:r>
          </a:p>
        </p:txBody>
      </p:sp>
      <p:sp>
        <p:nvSpPr>
          <p:cNvPr id="8" name="">
            <a:extLst xmlns:a="http://schemas.openxmlformats.org/drawingml/2006/main">
              <a:ext uri="{FF2B5EF4-FFF2-40B4-BE49-F238E27FC236}">
                <a16:creationId xmlns:a16="http://schemas.microsoft.com/office/drawing/2014/main" id="{77011A6E-B96E-4374-AF60-ABDC9C769644}"/>
              </a:ext>
            </a:extLst>
          </p:cNvPr>
          <p:cNvSpPr>
            <a:spLocks xmlns:a="http://schemas.openxmlformats.org/drawingml/2006/main" noGrp="1"/>
          </p:cNvSpPr>
          <p:nvPr/>
        </p:nvSpPr>
        <p:spPr>
          <a:xfrm xmlns:a="http://schemas.openxmlformats.org/drawingml/2006/main">
            <a:off x="6477000" y="2276475"/>
            <a:ext cx="5048250" cy="1666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a:solidFill>
                  <a:srgbClr val="334E68"/>
                </a:solidFill>
                <a:latin typeface="Arial"/>
                <a:ea typeface="Arial"/>
                <a:cs typeface="Arial"/>
              </a:defRPr>
            </a:defPPr>
          </a:lstStyle>
          <a:p xmlns:a="http://schemas.openxmlformats.org/drawingml/2006/main">
            <a:pPr>
              <a:defRPr sz="1575">
                <a:solidFill>
                  <a:srgbClr val="334E68"/>
                </a:solidFill>
                <a:latin typeface="Arial"/>
                <a:ea typeface="Arial"/>
                <a:cs typeface="Arial"/>
              </a:defRPr>
            </a:pPr>
            <a:r>
              <a:rPr sz="1575">
                <a:solidFill>
                  <a:srgbClr val="334E68"/>
                </a:solidFill>
                <a:latin typeface="Arial"/>
                <a:ea typeface="Arial"/>
                <a:cs typeface="Arial"/>
              </a:rPr>
              <a:t>G1 and G2 are excluded to keep the model useful before final grading. Sex is excluded from prediction features. K-Means does not use the final-grade target.</a:t>
            </a:r>
          </a:p>
        </p:txBody>
      </p:sp>
      <p:sp>
        <p:nvSpPr>
          <p:cNvPr id="9" name="">
            <a:extLst xmlns:a="http://schemas.openxmlformats.org/drawingml/2006/main">
              <a:ext uri="{FF2B5EF4-FFF2-40B4-BE49-F238E27FC236}">
                <a16:creationId xmlns:a16="http://schemas.microsoft.com/office/drawing/2014/main" id="{E76106E9-A4D4-434A-B682-8F910FFCB8ED}"/>
              </a:ext>
            </a:extLst>
          </p:cNvPr>
          <p:cNvSpPr>
            <a:spLocks xmlns:a="http://schemas.openxmlformats.org/drawingml/2006/main" noGrp="1"/>
          </p:cNvSpPr>
          <p:nvPr/>
        </p:nvSpPr>
        <p:spPr>
          <a:xfrm xmlns:a="http://schemas.openxmlformats.org/drawingml/2006/main">
            <a:off x="609600" y="4533900"/>
            <a:ext cx="10906125" cy="9525"/>
          </a:xfrm>
          <a:prstGeom xmlns:a="http://schemas.openxmlformats.org/drawingml/2006/main" prst="rect">
            <a:avLst/>
          </a:prstGeom>
          <a:solidFill xmlns:a="http://schemas.openxmlformats.org/drawingml/2006/main">
            <a:srgbClr val="D9E2E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DD072A5-24EC-4345-A23A-F74A51CA3A42}"/>
              </a:ext>
            </a:extLst>
          </p:cNvPr>
          <p:cNvSpPr>
            <a:spLocks xmlns:a="http://schemas.openxmlformats.org/drawingml/2006/main" noGrp="1"/>
          </p:cNvSpPr>
          <p:nvPr/>
        </p:nvSpPr>
        <p:spPr>
          <a:xfrm xmlns:a="http://schemas.openxmlformats.org/drawingml/2006/main">
            <a:off x="609600" y="4829175"/>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168C83"/>
                </a:solidFill>
                <a:latin typeface="Arial"/>
                <a:ea typeface="Arial"/>
                <a:cs typeface="Arial"/>
              </a:defRPr>
            </a:defPPr>
          </a:lstStyle>
          <a:p xmlns:a="http://schemas.openxmlformats.org/drawingml/2006/main">
            <a:pPr>
              <a:defRPr sz="1200" b="1">
                <a:solidFill>
                  <a:srgbClr val="168C83"/>
                </a:solidFill>
                <a:latin typeface="Arial"/>
                <a:ea typeface="Arial"/>
                <a:cs typeface="Arial"/>
              </a:defRPr>
            </a:pPr>
            <a:r>
              <a:rPr sz="1200" b="1">
                <a:solidFill>
                  <a:srgbClr val="168C83"/>
                </a:solidFill>
                <a:latin typeface="Arial"/>
                <a:ea typeface="Arial"/>
                <a:cs typeface="Arial"/>
              </a:rPr>
              <a:t>INSTITUTION MODEL</a:t>
            </a:r>
          </a:p>
        </p:txBody>
      </p:sp>
      <p:sp>
        <p:nvSpPr>
          <p:cNvPr id="11" name="">
            <a:extLst xmlns:a="http://schemas.openxmlformats.org/drawingml/2006/main">
              <a:ext uri="{FF2B5EF4-FFF2-40B4-BE49-F238E27FC236}">
                <a16:creationId xmlns:a16="http://schemas.microsoft.com/office/drawing/2014/main" id="{533C357B-152C-4F9C-BDCD-945CEE855033}"/>
              </a:ext>
            </a:extLst>
          </p:cNvPr>
          <p:cNvSpPr>
            <a:spLocks xmlns:a="http://schemas.openxmlformats.org/drawingml/2006/main" noGrp="1"/>
          </p:cNvSpPr>
          <p:nvPr/>
        </p:nvSpPr>
        <p:spPr>
          <a:xfrm xmlns:a="http://schemas.openxmlformats.org/drawingml/2006/main">
            <a:off x="609600" y="5210175"/>
            <a:ext cx="1057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a:solidFill>
                  <a:srgbClr val="334E68"/>
                </a:solidFill>
                <a:latin typeface="Arial"/>
                <a:ea typeface="Arial"/>
                <a:cs typeface="Arial"/>
              </a:defRPr>
            </a:defPPr>
          </a:lstStyle>
          <a:p xmlns:a="http://schemas.openxmlformats.org/drawingml/2006/main">
            <a:pPr>
              <a:defRPr sz="1500">
                <a:solidFill>
                  <a:srgbClr val="334E68"/>
                </a:solidFill>
                <a:latin typeface="Arial"/>
                <a:ea typeface="Arial"/>
                <a:cs typeface="Arial"/>
              </a:defRPr>
            </a:pPr>
            <a:r>
              <a:rPr sz="1500">
                <a:solidFill>
                  <a:srgbClr val="334E68"/>
                </a:solidFill>
                <a:latin typeface="Arial"/>
                <a:ea typeface="Arial"/>
                <a:cs typeface="Arial"/>
              </a:rPr>
              <a:t>Linear Regression, Random Forest, and Gradient Boosting use student-grouped validation. At least 12 labeled records from 4 students are required.</a:t>
            </a:r>
          </a:p>
        </p:txBody>
      </p:sp>
    </p:spTree>
    <p:extLst>
      <p:ext uri="{BB962C8B-B14F-4D97-AF65-F5344CB8AC3E}">
        <p14:creationId xmlns:p14="http://schemas.microsoft.com/office/powerpoint/2010/main" val="2001368022"/>
      </p:ext>
    </p:extLst>
  </p:cSld>
</p:sld>
</file>

<file path=ppt/slides/slide6.xml><?xml version="1.0" encoding="utf-8"?>
<p:sld xmlns:a="http://schemas.openxmlformats.org/drawingml/2006/main" xmlns:a16="http://schemas.microsoft.com/office/drawing/2014/main" xmlns:p="http://schemas.openxmlformats.org/presentationml/2006/main" xmlns:p14="http://schemas.microsoft.com/office/powerpoint/2010/main">
  <p:cSld>
    <p:bg>
      <p:bgPr>
        <a:solidFill>
          <a:srgbClr val="F6F8FB"/>
        </a:solidFill>
      </p:bgPr>
    </p:bg>
    <p:spTree>
      <p:nvGrpSpPr>
        <p:cNvPr id="1" name=""/>
        <p:cNvGrpSpPr/>
        <p:nvPr/>
      </p:nvGrpSpPr>
      <p:grpSpPr>
        <a:xfrm/>
      </p:grpSpPr>
      <p:sp>
        <p:nvSpPr>
          <p:cNvPr id="17" name="">
            <a:extLst>
              <a:ext uri="{FF2B5EF4-FFF2-40B4-BE49-F238E27FC236}">
                <a16:creationId id="{DD17C409-8111-4CA3-A2A9-E0EEEA9599B3}"/>
              </a:ext>
            </a:extLst>
          </p:cNvPr>
          <p:cNvSpPr>
            <a:spLocks noGrp="1"/>
          </p:cNvSpPr>
          <p:nvPr/>
        </p:nvSpPr>
        <p:spPr>
          <a:xfrm>
            <a:off x="609600" y="266700"/>
            <a:ext cx="3619500" cy="238125"/>
          </a:xfrm>
          <a:prstGeom prst="rect">
            <a:avLst/>
          </a:prstGeom>
          <a:noFill/>
          <a:ln w="0">
            <a:noFill/>
            <a:prstDash val="solid"/>
          </a:ln>
        </p:spPr>
        <p:txBody>
          <a:bodyPr/>
          <a:lstStyle>
            <a:defPPr>
              <a:defRPr sz="1125" b="1">
                <a:solidFill>
                  <a:srgbClr val="168C83"/>
                </a:solidFill>
                <a:latin typeface="Arial"/>
                <a:ea typeface="Arial"/>
                <a:cs typeface="Arial"/>
              </a:defRPr>
            </a:defPPr>
          </a:lstStyle>
          <a:p>
            <a:pPr>
              <a:defRPr sz="1125" b="1">
                <a:solidFill>
                  <a:srgbClr val="168C83"/>
                </a:solidFill>
                <a:latin typeface="Arial"/>
                <a:ea typeface="Arial"/>
                <a:cs typeface="Arial"/>
              </a:defRPr>
            </a:pPr>
            <a:r>
              <a:rPr sz="1125" b="1">
                <a:solidFill>
                  <a:srgbClr val="168C83"/>
                </a:solidFill>
                <a:latin typeface="Arial"/>
                <a:ea typeface="Arial"/>
                <a:cs typeface="Arial"/>
              </a:rPr>
              <a:t>TREKVERSE AI ACADEMY</a:t>
            </a:r>
          </a:p>
        </p:txBody>
      </p:sp>
      <p:sp>
        <p:nvSpPr>
          <p:cNvPr id="2" name="">
            <a:extLst>
              <a:ext uri="{FF2B5EF4-FFF2-40B4-BE49-F238E27FC236}">
                <a16:creationId id="{39EAC2D3-9B1E-40D9-B092-A4E653074592}"/>
              </a:ext>
            </a:extLst>
          </p:cNvPr>
          <p:cNvSpPr>
            <a:spLocks noGrp="1"/>
          </p:cNvSpPr>
          <p:nvPr/>
        </p:nvSpPr>
        <p:spPr>
          <a:xfrm>
            <a:off x="9191625" y="285750"/>
            <a:ext cx="2381250" cy="209550"/>
          </a:xfrm>
          <a:prstGeom prst="rect">
            <a:avLst/>
          </a:prstGeom>
          <a:noFill/>
          <a:ln w="0">
            <a:noFill/>
            <a:prstDash val="solid"/>
          </a:ln>
        </p:spPr>
        <p:txBody>
          <a:bodyPr/>
          <a:lstStyle>
            <a:defPPr>
              <a:defRPr sz="975" b="1">
                <a:solidFill>
                  <a:srgbClr val="627D98"/>
                </a:solidFill>
                <a:latin typeface="Arial"/>
                <a:ea typeface="Arial"/>
                <a:cs typeface="Arial"/>
              </a:defRPr>
            </a:defPPr>
          </a:lstStyle>
          <a:p>
            <a:pPr>
              <a:defRPr sz="975" b="1">
                <a:solidFill>
                  <a:srgbClr val="627D98"/>
                </a:solidFill>
                <a:latin typeface="Arial"/>
                <a:ea typeface="Arial"/>
                <a:cs typeface="Arial"/>
              </a:defRPr>
            </a:pPr>
            <a:r>
              <a:rPr sz="975" b="1">
                <a:solidFill>
                  <a:srgbClr val="627D98"/>
                </a:solidFill>
                <a:latin typeface="Arial"/>
                <a:ea typeface="Arial"/>
                <a:cs typeface="Arial"/>
              </a:rPr>
              <a:t>EVALUATION</a:t>
            </a:r>
          </a:p>
        </p:txBody>
      </p:sp>
      <p:sp>
        <p:nvSpPr>
          <p:cNvPr id="3" name="">
            <a:extLst>
              <a:ext uri="{FF2B5EF4-FFF2-40B4-BE49-F238E27FC236}">
                <a16:creationId id="{77ECB98A-4D3B-4C07-BB16-29400327524C}"/>
              </a:ext>
            </a:extLst>
          </p:cNvPr>
          <p:cNvSpPr>
            <a:spLocks noGrp="1"/>
          </p:cNvSpPr>
          <p:nvPr/>
        </p:nvSpPr>
        <p:spPr>
          <a:xfrm>
            <a:off x="609600" y="733425"/>
            <a:ext cx="10972800" cy="609600"/>
          </a:xfrm>
          <a:prstGeom prst="rect">
            <a:avLst/>
          </a:prstGeom>
          <a:noFill/>
          <a:ln w="0">
            <a:noFill/>
            <a:prstDash val="solid"/>
          </a:ln>
        </p:spPr>
        <p:txBody>
          <a:bodyPr/>
          <a:lstStyle>
            <a:defPPr>
              <a:defRPr sz="3000" b="1">
                <a:solidFill>
                  <a:srgbClr val="102A43"/>
                </a:solidFill>
                <a:latin typeface="Arial"/>
                <a:ea typeface="Arial"/>
                <a:cs typeface="Arial"/>
              </a:defRPr>
            </a:defPPr>
          </a:lstStyle>
          <a:p>
            <a:pPr>
              <a:defRPr sz="3000" b="1">
                <a:solidFill>
                  <a:srgbClr val="102A43"/>
                </a:solidFill>
                <a:latin typeface="Arial"/>
                <a:ea typeface="Arial"/>
                <a:cs typeface="Arial"/>
              </a:defRPr>
            </a:pPr>
            <a:r>
              <a:rPr sz="3000" b="1">
                <a:solidFill>
                  <a:srgbClr val="102A43"/>
                </a:solidFill>
                <a:latin typeface="Arial"/>
                <a:ea typeface="Arial"/>
                <a:cs typeface="Arial"/>
              </a:rPr>
              <a:t>Reference model results</a:t>
            </a:r>
          </a:p>
        </p:txBody>
      </p:sp>
      <p:sp>
        <p:nvSpPr>
          <p:cNvPr id="4" name="">
            <a:extLst>
              <a:ext uri="{FF2B5EF4-FFF2-40B4-BE49-F238E27FC236}">
                <a16:creationId id="{5AF98F6E-BB58-4973-81A7-66209A93AD67}"/>
              </a:ext>
            </a:extLst>
          </p:cNvPr>
          <p:cNvSpPr>
            <a:spLocks noGrp="1"/>
          </p:cNvSpPr>
          <p:nvPr/>
        </p:nvSpPr>
        <p:spPr>
          <a:xfrm>
            <a:off x="609600" y="1438275"/>
            <a:ext cx="723900" cy="47625"/>
          </a:xfrm>
          <a:prstGeom prst="rect">
            <a:avLst/>
          </a:prstGeom>
          <a:solidFill>
            <a:srgbClr val="168C83"/>
          </a:solidFill>
          <a:ln w="0">
            <a:noFill/>
            <a:prstDash val="solid"/>
          </a:ln>
        </p:spPr>
      </p:sp>
      <p:sp>
        <p:nvSpPr>
          <p:cNvPr id="5" name="">
            <a:extLst>
              <a:ext uri="{FF2B5EF4-FFF2-40B4-BE49-F238E27FC236}">
                <a16:creationId id="{EC9F44F2-C72D-41D2-ABAF-E2F93346EA24}"/>
              </a:ext>
            </a:extLst>
          </p:cNvPr>
          <p:cNvSpPr>
            <a:spLocks noGrp="1"/>
          </p:cNvSpPr>
          <p:nvPr/>
        </p:nvSpPr>
        <p:spPr>
          <a:xfrm>
            <a:off x="609600" y="1847850"/>
            <a:ext cx="2381250" cy="571500"/>
          </a:xfrm>
          <a:prstGeom prst="rect">
            <a:avLst/>
          </a:prstGeom>
          <a:noFill/>
          <a:ln w="0">
            <a:noFill/>
            <a:prstDash val="solid"/>
          </a:ln>
        </p:spPr>
        <p:txBody>
          <a:bodyPr/>
          <a:lstStyle>
            <a:defPPr>
              <a:defRPr sz="3225" b="1">
                <a:solidFill>
                  <a:srgbClr val="102A43"/>
                </a:solidFill>
                <a:latin typeface="Arial"/>
                <a:ea typeface="Arial"/>
                <a:cs typeface="Arial"/>
              </a:defRPr>
            </a:defPPr>
          </a:lstStyle>
          <a:p>
            <a:pPr>
              <a:defRPr sz="3225" b="1">
                <a:solidFill>
                  <a:srgbClr val="102A43"/>
                </a:solidFill>
                <a:latin typeface="Arial"/>
                <a:ea typeface="Arial"/>
                <a:cs typeface="Arial"/>
              </a:defRPr>
            </a:pPr>
            <a:r>
              <a:rPr sz="3225" b="1">
                <a:solidFill>
                  <a:srgbClr val="102A43"/>
                </a:solidFill>
                <a:latin typeface="Arial"/>
                <a:ea typeface="Arial"/>
                <a:cs typeface="Arial"/>
              </a:rPr>
              <a:t>1,044</a:t>
            </a:r>
          </a:p>
        </p:txBody>
      </p:sp>
      <p:sp>
        <p:nvSpPr>
          <p:cNvPr id="6" name="">
            <a:extLst>
              <a:ext uri="{FF2B5EF4-FFF2-40B4-BE49-F238E27FC236}">
                <a16:creationId id="{0C4C64BD-A08C-4FBB-9029-938CDE036C0B}"/>
              </a:ext>
            </a:extLst>
          </p:cNvPr>
          <p:cNvSpPr>
            <a:spLocks noGrp="1"/>
          </p:cNvSpPr>
          <p:nvPr/>
        </p:nvSpPr>
        <p:spPr>
          <a:xfrm>
            <a:off x="609600" y="2381250"/>
            <a:ext cx="2571750" cy="285750"/>
          </a:xfrm>
          <a:prstGeom prst="rect">
            <a:avLst/>
          </a:prstGeom>
          <a:noFill/>
          <a:ln w="0">
            <a:noFill/>
            <a:prstDash val="solid"/>
          </a:ln>
        </p:spPr>
        <p:txBody>
          <a:bodyPr/>
          <a:lstStyle>
            <a:defPPr>
              <a:defRPr sz="1350">
                <a:solidFill>
                  <a:srgbClr val="627D98"/>
                </a:solidFill>
                <a:latin typeface="Arial"/>
                <a:ea typeface="Arial"/>
                <a:cs typeface="Arial"/>
              </a:defRPr>
            </a:defPPr>
          </a:lstStyle>
          <a:p>
            <a:pPr>
              <a:defRPr sz="1350">
                <a:solidFill>
                  <a:srgbClr val="627D98"/>
                </a:solidFill>
                <a:latin typeface="Arial"/>
                <a:ea typeface="Arial"/>
                <a:cs typeface="Arial"/>
              </a:defRPr>
            </a:pPr>
            <a:r>
              <a:rPr sz="1350">
                <a:solidFill>
                  <a:srgbClr val="627D98"/>
                </a:solidFill>
                <a:latin typeface="Arial"/>
                <a:ea typeface="Arial"/>
                <a:cs typeface="Arial"/>
              </a:rPr>
              <a:t>course records</a:t>
            </a:r>
          </a:p>
        </p:txBody>
      </p:sp>
      <p:sp>
        <p:nvSpPr>
          <p:cNvPr id="7" name="">
            <a:extLst>
              <a:ext uri="{FF2B5EF4-FFF2-40B4-BE49-F238E27FC236}">
                <a16:creationId id="{A226260A-0339-4375-A87E-76B4A015A41C}"/>
              </a:ext>
            </a:extLst>
          </p:cNvPr>
          <p:cNvSpPr>
            <a:spLocks noGrp="1"/>
          </p:cNvSpPr>
          <p:nvPr/>
        </p:nvSpPr>
        <p:spPr>
          <a:xfrm>
            <a:off x="4076700" y="1847850"/>
            <a:ext cx="2857500" cy="571500"/>
          </a:xfrm>
          <a:prstGeom prst="rect">
            <a:avLst/>
          </a:prstGeom>
          <a:noFill/>
          <a:ln w="0">
            <a:noFill/>
            <a:prstDash val="solid"/>
          </a:ln>
        </p:spPr>
        <p:txBody>
          <a:bodyPr/>
          <a:lstStyle>
            <a:defPPr>
              <a:defRPr sz="3225" b="1">
                <a:solidFill>
                  <a:srgbClr val="102A43"/>
                </a:solidFill>
                <a:latin typeface="Arial"/>
                <a:ea typeface="Arial"/>
                <a:cs typeface="Arial"/>
              </a:defRPr>
            </a:defPPr>
          </a:lstStyle>
          <a:p>
            <a:pPr>
              <a:defRPr sz="3225" b="1">
                <a:solidFill>
                  <a:srgbClr val="102A43"/>
                </a:solidFill>
                <a:latin typeface="Arial"/>
                <a:ea typeface="Arial"/>
                <a:cs typeface="Arial"/>
              </a:defRPr>
            </a:pPr>
            <a:r>
              <a:rPr sz="3225" b="1">
                <a:solidFill>
                  <a:srgbClr val="102A43"/>
                </a:solidFill>
                <a:latin typeface="Arial"/>
                <a:ea typeface="Arial"/>
                <a:cs typeface="Arial"/>
              </a:rPr>
              <a:t>835 / 209</a:t>
            </a:r>
          </a:p>
        </p:txBody>
      </p:sp>
      <p:sp>
        <p:nvSpPr>
          <p:cNvPr id="8" name="">
            <a:extLst>
              <a:ext uri="{FF2B5EF4-FFF2-40B4-BE49-F238E27FC236}">
                <a16:creationId id="{C0F96A0B-218F-4752-BD1E-488F5BA21F72}"/>
              </a:ext>
            </a:extLst>
          </p:cNvPr>
          <p:cNvSpPr>
            <a:spLocks noGrp="1"/>
          </p:cNvSpPr>
          <p:nvPr/>
        </p:nvSpPr>
        <p:spPr>
          <a:xfrm>
            <a:off x="4076700" y="2381250"/>
            <a:ext cx="3143250" cy="285750"/>
          </a:xfrm>
          <a:prstGeom prst="rect">
            <a:avLst/>
          </a:prstGeom>
          <a:noFill/>
          <a:ln w="0">
            <a:noFill/>
            <a:prstDash val="solid"/>
          </a:ln>
        </p:spPr>
        <p:txBody>
          <a:bodyPr/>
          <a:lstStyle>
            <a:defPPr>
              <a:defRPr sz="1350">
                <a:solidFill>
                  <a:srgbClr val="627D98"/>
                </a:solidFill>
                <a:latin typeface="Arial"/>
                <a:ea typeface="Arial"/>
                <a:cs typeface="Arial"/>
              </a:defRPr>
            </a:defPPr>
          </a:lstStyle>
          <a:p>
            <a:pPr>
              <a:defRPr sz="1350">
                <a:solidFill>
                  <a:srgbClr val="627D98"/>
                </a:solidFill>
                <a:latin typeface="Arial"/>
                <a:ea typeface="Arial"/>
                <a:cs typeface="Arial"/>
              </a:defRPr>
            </a:pPr>
            <a:r>
              <a:rPr sz="1350">
                <a:solidFill>
                  <a:srgbClr val="627D98"/>
                </a:solidFill>
                <a:latin typeface="Arial"/>
                <a:ea typeface="Arial"/>
                <a:cs typeface="Arial"/>
              </a:rPr>
              <a:t>train / held-out test records</a:t>
            </a:r>
          </a:p>
        </p:txBody>
      </p:sp>
      <p:sp>
        <p:nvSpPr>
          <p:cNvPr id="9" name="">
            <a:extLst>
              <a:ext uri="{FF2B5EF4-FFF2-40B4-BE49-F238E27FC236}">
                <a16:creationId id="{8138A49C-FFB2-4B3C-A763-41A6D71D1B4A}"/>
              </a:ext>
            </a:extLst>
          </p:cNvPr>
          <p:cNvSpPr>
            <a:spLocks noGrp="1"/>
          </p:cNvSpPr>
          <p:nvPr/>
        </p:nvSpPr>
        <p:spPr>
          <a:xfrm>
            <a:off x="8096250" y="1847850"/>
            <a:ext cx="2857500" cy="571500"/>
          </a:xfrm>
          <a:prstGeom prst="rect">
            <a:avLst/>
          </a:prstGeom>
          <a:noFill/>
          <a:ln w="0">
            <a:noFill/>
            <a:prstDash val="solid"/>
          </a:ln>
        </p:spPr>
        <p:txBody>
          <a:bodyPr/>
          <a:lstStyle>
            <a:defPPr>
              <a:defRPr sz="3225" b="1">
                <a:solidFill>
                  <a:srgbClr val="102A43"/>
                </a:solidFill>
                <a:latin typeface="Arial"/>
                <a:ea typeface="Arial"/>
                <a:cs typeface="Arial"/>
              </a:defRPr>
            </a:defPPr>
          </a:lstStyle>
          <a:p>
            <a:pPr>
              <a:defRPr sz="3225" b="1">
                <a:solidFill>
                  <a:srgbClr val="102A43"/>
                </a:solidFill>
                <a:latin typeface="Arial"/>
                <a:ea typeface="Arial"/>
                <a:cs typeface="Arial"/>
              </a:defRPr>
            </a:pPr>
            <a:r>
              <a:rPr sz="3225" b="1">
                <a:solidFill>
                  <a:srgbClr val="102A43"/>
                </a:solidFill>
                <a:latin typeface="Arial"/>
                <a:ea typeface="Arial"/>
                <a:cs typeface="Arial"/>
              </a:rPr>
              <a:t>CV-based</a:t>
            </a:r>
          </a:p>
        </p:txBody>
      </p:sp>
      <p:sp>
        <p:nvSpPr>
          <p:cNvPr id="10" name="">
            <a:extLst>
              <a:ext uri="{FF2B5EF4-FFF2-40B4-BE49-F238E27FC236}">
                <a16:creationId id="{307023BC-D852-4C96-9C2B-8FE45E2DB70A}"/>
              </a:ext>
            </a:extLst>
          </p:cNvPr>
          <p:cNvSpPr>
            <a:spLocks noGrp="1"/>
          </p:cNvSpPr>
          <p:nvPr/>
        </p:nvSpPr>
        <p:spPr>
          <a:xfrm>
            <a:off x="8096250" y="2381250"/>
            <a:ext cx="2857500" cy="285750"/>
          </a:xfrm>
          <a:prstGeom prst="rect">
            <a:avLst/>
          </a:prstGeom>
          <a:noFill/>
          <a:ln w="0">
            <a:noFill/>
            <a:prstDash val="solid"/>
          </a:ln>
        </p:spPr>
        <p:txBody>
          <a:bodyPr/>
          <a:lstStyle>
            <a:defPPr>
              <a:defRPr sz="1350">
                <a:solidFill>
                  <a:srgbClr val="627D98"/>
                </a:solidFill>
                <a:latin typeface="Arial"/>
                <a:ea typeface="Arial"/>
                <a:cs typeface="Arial"/>
              </a:defRPr>
            </a:defPPr>
          </a:lstStyle>
          <a:p>
            <a:pPr>
              <a:defRPr sz="1350">
                <a:solidFill>
                  <a:srgbClr val="627D98"/>
                </a:solidFill>
                <a:latin typeface="Arial"/>
                <a:ea typeface="Arial"/>
                <a:cs typeface="Arial"/>
              </a:defRPr>
            </a:pPr>
            <a:r>
              <a:rPr sz="1350">
                <a:solidFill>
                  <a:srgbClr val="627D98"/>
                </a:solidFill>
                <a:latin typeface="Arial"/>
                <a:ea typeface="Arial"/>
                <a:cs typeface="Arial"/>
              </a:rPr>
              <a:t>model selection</a:t>
            </a:r>
          </a:p>
        </p:txBody>
      </p:sp>
      <p:sp>
        <p:nvSpPr>
          <p:cNvPr id="11" name="">
            <a:extLst>
              <a:ext uri="{FF2B5EF4-FFF2-40B4-BE49-F238E27FC236}">
                <a16:creationId id="{67032DFC-CACC-4408-B55E-78D28A0B6121}"/>
              </a:ext>
            </a:extLst>
          </p:cNvPr>
          <p:cNvSpPr>
            <a:spLocks noGrp="1"/>
          </p:cNvSpPr>
          <p:nvPr/>
        </p:nvSpPr>
        <p:spPr>
          <a:xfrm>
            <a:off x="609600" y="3067050"/>
            <a:ext cx="10906125" cy="9525"/>
          </a:xfrm>
          <a:prstGeom prst="rect">
            <a:avLst/>
          </a:prstGeom>
          <a:solidFill>
            <a:srgbClr val="D9E2EC"/>
          </a:solidFill>
          <a:ln w="0">
            <a:noFill/>
            <a:prstDash val="solid"/>
          </a:ln>
        </p:spPr>
      </p:sp>
      <p:sp>
        <p:nvSpPr>
          <p:cNvPr id="12" name="">
            <a:extLst>
              <a:ext uri="{FF2B5EF4-FFF2-40B4-BE49-F238E27FC236}">
                <a16:creationId id="{EE210E20-3C2D-4AC7-AD79-F3A28477D9F8}"/>
              </a:ext>
            </a:extLst>
          </p:cNvPr>
          <p:cNvSpPr>
            <a:spLocks noGrp="1"/>
          </p:cNvSpPr>
          <p:nvPr/>
        </p:nvSpPr>
        <p:spPr>
          <a:xfrm>
            <a:off x="609600" y="3390900"/>
            <a:ext cx="5238750" cy="323850"/>
          </a:xfrm>
          <a:prstGeom prst="rect">
            <a:avLst/>
          </a:prstGeom>
          <a:noFill/>
          <a:ln w="0">
            <a:noFill/>
            <a:prstDash val="solid"/>
          </a:ln>
        </p:spPr>
        <p:txBody>
          <a:bodyPr/>
          <a:lstStyle>
            <a:defPPr>
              <a:defRPr sz="1650" b="1">
                <a:solidFill>
                  <a:srgbClr val="102A43"/>
                </a:solidFill>
                <a:latin typeface="Arial"/>
                <a:ea typeface="Arial"/>
                <a:cs typeface="Arial"/>
              </a:defRPr>
            </a:defPPr>
          </a:lstStyle>
          <a:p>
            <a:pPr>
              <a:defRPr sz="1650" b="1">
                <a:solidFill>
                  <a:srgbClr val="102A43"/>
                </a:solidFill>
                <a:latin typeface="Arial"/>
                <a:ea typeface="Arial"/>
                <a:cs typeface="Arial"/>
              </a:defRPr>
            </a:pPr>
            <a:r>
              <a:rPr sz="1650" b="1">
                <a:solidFill>
                  <a:srgbClr val="102A43"/>
                </a:solidFill>
                <a:latin typeface="Arial"/>
                <a:ea typeface="Arial"/>
                <a:cs typeface="Arial"/>
              </a:rPr>
              <a:t>REGRESSION: Tuned Random Forest</a:t>
            </a:r>
          </a:p>
        </p:txBody>
      </p:sp>
      <p:sp>
        <p:nvSpPr>
          <p:cNvPr id="13" name="">
            <a:extLst>
              <a:ext uri="{FF2B5EF4-FFF2-40B4-BE49-F238E27FC236}">
                <a16:creationId id="{D8D37A12-4160-4D0E-84B3-019C14D5877C}"/>
              </a:ext>
            </a:extLst>
          </p:cNvPr>
          <p:cNvSpPr>
            <a:spLocks noGrp="1"/>
          </p:cNvSpPr>
          <p:nvPr/>
        </p:nvSpPr>
        <p:spPr>
          <a:xfrm>
            <a:off x="609600" y="3848100"/>
            <a:ext cx="10668000" cy="381000"/>
          </a:xfrm>
          <a:prstGeom prst="rect">
            <a:avLst/>
          </a:prstGeom>
          <a:noFill/>
          <a:ln w="0">
            <a:noFill/>
            <a:prstDash val="solid"/>
          </a:ln>
        </p:spPr>
        <p:txBody>
          <a:bodyPr/>
          <a:lstStyle>
            <a:defPPr>
              <a:defRPr sz="1725">
                <a:solidFill>
                  <a:srgbClr val="334E68"/>
                </a:solidFill>
                <a:latin typeface="Arial"/>
                <a:ea typeface="Arial"/>
                <a:cs typeface="Arial"/>
              </a:defRPr>
            </a:defPPr>
          </a:lstStyle>
          <a:p>
            <a:pPr>
              <a:defRPr sz="1725">
                <a:solidFill>
                  <a:srgbClr val="334E68"/>
                </a:solidFill>
                <a:latin typeface="Arial"/>
                <a:ea typeface="Arial"/>
                <a:cs typeface="Arial"/>
              </a:defRPr>
            </a:pPr>
            <a:r>
              <a:rPr sz="1725">
                <a:solidFill>
                  <a:srgbClr val="334E68"/>
                </a:solidFill>
                <a:latin typeface="Arial"/>
                <a:ea typeface="Arial"/>
                <a:cs typeface="Arial"/>
              </a:rPr>
              <a:t>MAE  2.336     RMSE  3.300     R2  0.268     CV RMSE  3.205</a:t>
            </a:r>
          </a:p>
        </p:txBody>
      </p:sp>
      <p:sp>
        <p:nvSpPr>
          <p:cNvPr id="14" name="">
            <a:extLst>
              <a:ext uri="{FF2B5EF4-FFF2-40B4-BE49-F238E27FC236}">
                <a16:creationId id="{09E5472D-F941-4900-B5A1-9E6C59A55F8C}"/>
              </a:ext>
            </a:extLst>
          </p:cNvPr>
          <p:cNvSpPr>
            <a:spLocks noGrp="1"/>
          </p:cNvSpPr>
          <p:nvPr/>
        </p:nvSpPr>
        <p:spPr>
          <a:xfrm>
            <a:off x="609600" y="4552950"/>
            <a:ext cx="5238750" cy="323850"/>
          </a:xfrm>
          <a:prstGeom prst="rect">
            <a:avLst/>
          </a:prstGeom>
          <a:noFill/>
          <a:ln w="0">
            <a:noFill/>
            <a:prstDash val="solid"/>
          </a:ln>
        </p:spPr>
        <p:txBody>
          <a:bodyPr/>
          <a:lstStyle>
            <a:defPPr>
              <a:defRPr sz="1650" b="1">
                <a:solidFill>
                  <a:srgbClr val="102A43"/>
                </a:solidFill>
                <a:latin typeface="Arial"/>
                <a:ea typeface="Arial"/>
                <a:cs typeface="Arial"/>
              </a:defRPr>
            </a:defPPr>
          </a:lstStyle>
          <a:p>
            <a:pPr>
              <a:defRPr sz="1650" b="1">
                <a:solidFill>
                  <a:srgbClr val="102A43"/>
                </a:solidFill>
                <a:latin typeface="Arial"/>
                <a:ea typeface="Arial"/>
                <a:cs typeface="Arial"/>
              </a:defRPr>
            </a:pPr>
            <a:r>
              <a:rPr sz="1650" b="1">
                <a:solidFill>
                  <a:srgbClr val="102A43"/>
                </a:solidFill>
                <a:latin typeface="Arial"/>
                <a:ea typeface="Arial"/>
                <a:cs typeface="Arial"/>
              </a:rPr>
              <a:t>CLASSIFICATION: XGBoost</a:t>
            </a:r>
          </a:p>
        </p:txBody>
      </p:sp>
      <p:sp>
        <p:nvSpPr>
          <p:cNvPr id="15" name="">
            <a:extLst>
              <a:ext uri="{FF2B5EF4-FFF2-40B4-BE49-F238E27FC236}">
                <a16:creationId id="{ECD8C6CF-3F84-46B3-B2C0-3AA5964A87A6}"/>
              </a:ext>
            </a:extLst>
          </p:cNvPr>
          <p:cNvSpPr>
            <a:spLocks noGrp="1"/>
          </p:cNvSpPr>
          <p:nvPr/>
        </p:nvSpPr>
        <p:spPr>
          <a:xfrm>
            <a:off x="609600" y="5010150"/>
            <a:ext cx="10858500" cy="428625"/>
          </a:xfrm>
          <a:prstGeom prst="rect">
            <a:avLst/>
          </a:prstGeom>
          <a:noFill/>
          <a:ln w="0">
            <a:noFill/>
            <a:prstDash val="solid"/>
          </a:ln>
        </p:spPr>
        <p:txBody>
          <a:bodyPr/>
          <a:lstStyle>
            <a:defPPr>
              <a:defRPr sz="1650">
                <a:solidFill>
                  <a:srgbClr val="334E68"/>
                </a:solidFill>
                <a:latin typeface="Arial"/>
                <a:ea typeface="Arial"/>
                <a:cs typeface="Arial"/>
              </a:defRPr>
            </a:defPPr>
          </a:lstStyle>
          <a:p>
            <a:pPr>
              <a:defRPr sz="1650">
                <a:solidFill>
                  <a:srgbClr val="334E68"/>
                </a:solidFill>
                <a:latin typeface="Arial"/>
                <a:ea typeface="Arial"/>
                <a:cs typeface="Arial"/>
              </a:defRPr>
            </a:pPr>
            <a:r>
              <a:rPr sz="1650">
                <a:solidFill>
                  <a:srgbClr val="334E68"/>
                </a:solidFill>
                <a:latin typeface="Arial"/>
                <a:ea typeface="Arial"/>
                <a:cs typeface="Arial"/>
              </a:rPr>
              <a:t>Accuracy  0.579     Macro-F1  0.533     CV Macro-F1  0.547     ROC-AUC  0.741</a:t>
            </a:r>
          </a:p>
        </p:txBody>
      </p:sp>
      <p:sp>
        <p:nvSpPr>
          <p:cNvPr id="16" name="">
            <a:extLst>
              <a:ext uri="{FF2B5EF4-FFF2-40B4-BE49-F238E27FC236}">
                <a16:creationId id="{D350D3BA-4039-4F39-8E95-8D0B97465FEE}"/>
              </a:ext>
            </a:extLst>
          </p:cNvPr>
          <p:cNvSpPr>
            <a:spLocks noGrp="1"/>
          </p:cNvSpPr>
          <p:nvPr/>
        </p:nvSpPr>
        <p:spPr>
          <a:xfrm>
            <a:off x="609600" y="5857875"/>
            <a:ext cx="10858500" cy="266700"/>
          </a:xfrm>
          <a:prstGeom prst="rect">
            <a:avLst/>
          </a:prstGeom>
          <a:noFill/>
          <a:ln w="0">
            <a:noFill/>
            <a:prstDash val="solid"/>
          </a:ln>
        </p:spPr>
        <p:txBody>
          <a:bodyPr/>
          <a:lstStyle>
            <a:defPPr>
              <a:defRPr sz="1275">
                <a:solidFill>
                  <a:srgbClr val="B54747"/>
                </a:solidFill>
                <a:latin typeface="Arial"/>
                <a:ea typeface="Arial"/>
                <a:cs typeface="Arial"/>
              </a:defRPr>
            </a:defPPr>
          </a:lstStyle>
          <a:p>
            <a:pPr>
              <a:defRPr sz="1275">
                <a:solidFill>
                  <a:srgbClr val="B54747"/>
                </a:solidFill>
                <a:latin typeface="Arial"/>
                <a:ea typeface="Arial"/>
                <a:cs typeface="Arial"/>
              </a:defRPr>
            </a:pPr>
            <a:r>
              <a:rPr sz="1275">
                <a:solidFill>
                  <a:srgbClr val="B54747"/>
                </a:solidFill>
                <a:latin typeface="Arial"/>
                <a:ea typeface="Arial"/>
                <a:cs typeface="Arial"/>
              </a:rPr>
              <a:t>Held-out UCI results are moderate; they do not establish performance on institution records.</a:t>
            </a:r>
          </a:p>
        </p:txBody>
      </p:sp>
    </p:spTree>
    <p:extLst>
      <p:ext uri="{BB962C8B-B14F-4D97-AF65-F5344CB8AC3E}">
        <p14:creationId val="2121694617"/>
      </p:ext>
    </p:extLst>
  </p:cSld>
</p:sld>
</file>

<file path=ppt/slides/slide7.xml><?xml version="1.0" encoding="utf-8"?>
<p:sld xmlns:a="http://schemas.openxmlformats.org/drawingml/2006/main" xmlns:a16="http://schemas.microsoft.com/office/drawing/2014/main" xmlns:p="http://schemas.openxmlformats.org/presentationml/2006/main" xmlns:p14="http://schemas.microsoft.com/office/powerpoint/2010/main">
  <p:cSld>
    <p:bg>
      <p:bgPr>
        <a:solidFill>
          <a:srgbClr val="F6F8FB"/>
        </a:solidFill>
      </p:bgPr>
    </p:bg>
    <p:spTree>
      <p:nvGrpSpPr>
        <p:cNvPr id="1" name=""/>
        <p:cNvGrpSpPr/>
        <p:nvPr/>
      </p:nvGrpSpPr>
      <p:grpSpPr>
        <a:xfrm/>
      </p:grpSpPr>
      <p:sp>
        <p:nvSpPr>
          <p:cNvPr id="12" name="">
            <a:extLst>
              <a:ext uri="{FF2B5EF4-FFF2-40B4-BE49-F238E27FC236}">
                <a16:creationId id="{DE36E9BE-0575-4D78-B5E5-481931F33333}"/>
              </a:ext>
            </a:extLst>
          </p:cNvPr>
          <p:cNvSpPr>
            <a:spLocks noGrp="1"/>
          </p:cNvSpPr>
          <p:nvPr/>
        </p:nvSpPr>
        <p:spPr>
          <a:xfrm>
            <a:off x="609600" y="266700"/>
            <a:ext cx="3619500" cy="238125"/>
          </a:xfrm>
          <a:prstGeom prst="rect">
            <a:avLst/>
          </a:prstGeom>
          <a:noFill/>
          <a:ln w="0">
            <a:noFill/>
            <a:prstDash val="solid"/>
          </a:ln>
        </p:spPr>
        <p:txBody>
          <a:bodyPr/>
          <a:lstStyle>
            <a:defPPr>
              <a:defRPr sz="1125" b="1">
                <a:solidFill>
                  <a:srgbClr val="168C83"/>
                </a:solidFill>
                <a:latin typeface="Arial"/>
                <a:ea typeface="Arial"/>
                <a:cs typeface="Arial"/>
              </a:defRPr>
            </a:defPPr>
          </a:lstStyle>
          <a:p>
            <a:pPr>
              <a:defRPr sz="1125" b="1">
                <a:solidFill>
                  <a:srgbClr val="168C83"/>
                </a:solidFill>
                <a:latin typeface="Arial"/>
                <a:ea typeface="Arial"/>
                <a:cs typeface="Arial"/>
              </a:defRPr>
            </a:pPr>
            <a:r>
              <a:rPr sz="1125" b="1">
                <a:solidFill>
                  <a:srgbClr val="168C83"/>
                </a:solidFill>
                <a:latin typeface="Arial"/>
                <a:ea typeface="Arial"/>
                <a:cs typeface="Arial"/>
              </a:rPr>
              <a:t>TREKVERSE AI ACADEMY</a:t>
            </a:r>
          </a:p>
        </p:txBody>
      </p:sp>
      <p:sp>
        <p:nvSpPr>
          <p:cNvPr id="2" name="">
            <a:extLst>
              <a:ext uri="{FF2B5EF4-FFF2-40B4-BE49-F238E27FC236}">
                <a16:creationId id="{5C33EE82-9C17-4AB2-A6CF-FDB9DE71D1E8}"/>
              </a:ext>
            </a:extLst>
          </p:cNvPr>
          <p:cNvSpPr>
            <a:spLocks noGrp="1"/>
          </p:cNvSpPr>
          <p:nvPr/>
        </p:nvSpPr>
        <p:spPr>
          <a:xfrm>
            <a:off x="9191625" y="285750"/>
            <a:ext cx="2381250" cy="209550"/>
          </a:xfrm>
          <a:prstGeom prst="rect">
            <a:avLst/>
          </a:prstGeom>
          <a:noFill/>
          <a:ln w="0">
            <a:noFill/>
            <a:prstDash val="solid"/>
          </a:ln>
        </p:spPr>
        <p:txBody>
          <a:bodyPr/>
          <a:lstStyle>
            <a:defPPr>
              <a:defRPr sz="975" b="1">
                <a:solidFill>
                  <a:srgbClr val="627D98"/>
                </a:solidFill>
                <a:latin typeface="Arial"/>
                <a:ea typeface="Arial"/>
                <a:cs typeface="Arial"/>
              </a:defRPr>
            </a:defPPr>
          </a:lstStyle>
          <a:p>
            <a:pPr>
              <a:defRPr sz="975" b="1">
                <a:solidFill>
                  <a:srgbClr val="627D98"/>
                </a:solidFill>
                <a:latin typeface="Arial"/>
                <a:ea typeface="Arial"/>
                <a:cs typeface="Arial"/>
              </a:defRPr>
            </a:pPr>
            <a:r>
              <a:rPr sz="975" b="1">
                <a:solidFill>
                  <a:srgbClr val="627D98"/>
                </a:solidFill>
                <a:latin typeface="Arial"/>
                <a:ea typeface="Arial"/>
                <a:cs typeface="Arial"/>
              </a:rPr>
              <a:t>SUPPORT</a:t>
            </a:r>
          </a:p>
        </p:txBody>
      </p:sp>
      <p:sp>
        <p:nvSpPr>
          <p:cNvPr id="3" name="">
            <a:extLst>
              <a:ext uri="{FF2B5EF4-FFF2-40B4-BE49-F238E27FC236}">
                <a16:creationId id="{8F442D20-802D-4C19-B907-DD6DEA920B5B}"/>
              </a:ext>
            </a:extLst>
          </p:cNvPr>
          <p:cNvSpPr>
            <a:spLocks noGrp="1"/>
          </p:cNvSpPr>
          <p:nvPr/>
        </p:nvSpPr>
        <p:spPr>
          <a:xfrm>
            <a:off x="609600" y="733425"/>
            <a:ext cx="10972800" cy="609600"/>
          </a:xfrm>
          <a:prstGeom prst="rect">
            <a:avLst/>
          </a:prstGeom>
          <a:noFill/>
          <a:ln w="0">
            <a:noFill/>
            <a:prstDash val="solid"/>
          </a:ln>
        </p:spPr>
        <p:txBody>
          <a:bodyPr/>
          <a:lstStyle>
            <a:defPPr>
              <a:defRPr sz="3000" b="1">
                <a:solidFill>
                  <a:srgbClr val="102A43"/>
                </a:solidFill>
                <a:latin typeface="Arial"/>
                <a:ea typeface="Arial"/>
                <a:cs typeface="Arial"/>
              </a:defRPr>
            </a:defPPr>
          </a:lstStyle>
          <a:p>
            <a:pPr>
              <a:defRPr sz="3000" b="1">
                <a:solidFill>
                  <a:srgbClr val="102A43"/>
                </a:solidFill>
                <a:latin typeface="Arial"/>
                <a:ea typeface="Arial"/>
                <a:cs typeface="Arial"/>
              </a:defRPr>
            </a:pPr>
            <a:r>
              <a:rPr sz="3000" b="1">
                <a:solidFill>
                  <a:srgbClr val="102A43"/>
                </a:solidFill>
                <a:latin typeface="Arial"/>
                <a:ea typeface="Arial"/>
                <a:cs typeface="Arial"/>
              </a:rPr>
              <a:t>Explain, plan, and review</a:t>
            </a:r>
          </a:p>
        </p:txBody>
      </p:sp>
      <p:sp>
        <p:nvSpPr>
          <p:cNvPr id="4" name="">
            <a:extLst>
              <a:ext uri="{FF2B5EF4-FFF2-40B4-BE49-F238E27FC236}">
                <a16:creationId id="{3381B540-5468-4C44-B9B4-725B0D42D745}"/>
              </a:ext>
            </a:extLst>
          </p:cNvPr>
          <p:cNvSpPr>
            <a:spLocks noGrp="1"/>
          </p:cNvSpPr>
          <p:nvPr/>
        </p:nvSpPr>
        <p:spPr>
          <a:xfrm>
            <a:off x="609600" y="1438275"/>
            <a:ext cx="723900" cy="47625"/>
          </a:xfrm>
          <a:prstGeom prst="rect">
            <a:avLst/>
          </a:prstGeom>
          <a:solidFill>
            <a:srgbClr val="168C83"/>
          </a:solidFill>
          <a:ln w="0">
            <a:noFill/>
            <a:prstDash val="solid"/>
          </a:ln>
        </p:spPr>
      </p:sp>
      <p:sp>
        <p:nvSpPr>
          <p:cNvPr id="5" name="">
            <a:extLst>
              <a:ext uri="{FF2B5EF4-FFF2-40B4-BE49-F238E27FC236}">
                <a16:creationId id="{C50B3F40-1840-4FCB-9274-68C21E7A9011}"/>
              </a:ext>
            </a:extLst>
          </p:cNvPr>
          <p:cNvSpPr>
            <a:spLocks noGrp="1"/>
          </p:cNvSpPr>
          <p:nvPr/>
        </p:nvSpPr>
        <p:spPr>
          <a:xfrm>
            <a:off x="609600" y="1952625"/>
            <a:ext cx="3238500" cy="266700"/>
          </a:xfrm>
          <a:prstGeom prst="rect">
            <a:avLst/>
          </a:prstGeom>
          <a:noFill/>
          <a:ln w="0">
            <a:noFill/>
            <a:prstDash val="solid"/>
          </a:ln>
        </p:spPr>
        <p:txBody>
          <a:bodyPr/>
          <a:lstStyle>
            <a:defPPr>
              <a:defRPr sz="1200" b="1">
                <a:solidFill>
                  <a:srgbClr val="168C83"/>
                </a:solidFill>
                <a:latin typeface="Arial"/>
                <a:ea typeface="Arial"/>
                <a:cs typeface="Arial"/>
              </a:defRPr>
            </a:defPPr>
          </a:lstStyle>
          <a:p>
            <a:pPr>
              <a:defRPr sz="1200" b="1">
                <a:solidFill>
                  <a:srgbClr val="168C83"/>
                </a:solidFill>
                <a:latin typeface="Arial"/>
                <a:ea typeface="Arial"/>
                <a:cs typeface="Arial"/>
              </a:defRPr>
            </a:pPr>
            <a:r>
              <a:rPr sz="1200" b="1">
                <a:solidFill>
                  <a:srgbClr val="168C83"/>
                </a:solidFill>
                <a:latin typeface="Arial"/>
                <a:ea typeface="Arial"/>
                <a:cs typeface="Arial"/>
              </a:rPr>
              <a:t>EXPLANATIONS</a:t>
            </a:r>
          </a:p>
        </p:txBody>
      </p:sp>
      <p:sp>
        <p:nvSpPr>
          <p:cNvPr id="6" name="">
            <a:extLst>
              <a:ext uri="{FF2B5EF4-FFF2-40B4-BE49-F238E27FC236}">
                <a16:creationId id="{B0B0D891-77B0-4E29-A709-9B805508E369}"/>
              </a:ext>
            </a:extLst>
          </p:cNvPr>
          <p:cNvSpPr>
            <a:spLocks noGrp="1"/>
          </p:cNvSpPr>
          <p:nvPr/>
        </p:nvSpPr>
        <p:spPr>
          <a:xfrm>
            <a:off x="609600" y="2457450"/>
            <a:ext cx="3238500" cy="2095500"/>
          </a:xfrm>
          <a:prstGeom prst="rect">
            <a:avLst/>
          </a:prstGeom>
          <a:noFill/>
          <a:ln w="0">
            <a:noFill/>
            <a:prstDash val="solid"/>
          </a:ln>
        </p:spPr>
        <p:txBody>
          <a:bodyPr/>
          <a:lstStyle>
            <a:defPPr>
              <a:defRPr sz="1500">
                <a:solidFill>
                  <a:srgbClr val="334E68"/>
                </a:solidFill>
                <a:latin typeface="Arial"/>
                <a:ea typeface="Arial"/>
                <a:cs typeface="Arial"/>
              </a:defRPr>
            </a:defPPr>
          </a:lstStyle>
          <a:p>
            <a:pPr>
              <a:defRPr sz="1500">
                <a:solidFill>
                  <a:srgbClr val="334E68"/>
                </a:solidFill>
                <a:latin typeface="Arial"/>
                <a:ea typeface="Arial"/>
                <a:cs typeface="Arial"/>
              </a:defRPr>
            </a:pPr>
            <a:r>
              <a:rPr sz="1500">
                <a:solidFill>
                  <a:srgbClr val="334E68"/>
                </a:solidFill>
                <a:latin typeface="Arial"/>
                <a:ea typeface="Arial"/>
                <a:cs typeface="Arial"/>
              </a:rPr>
              <a:t>Permutation importance and SHAP; local feature replacement is used when SHAP is unavailable. Three held-out reference examples are shown.</a:t>
            </a:r>
          </a:p>
        </p:txBody>
      </p:sp>
      <p:sp>
        <p:nvSpPr>
          <p:cNvPr id="7" name="">
            <a:extLst>
              <a:ext uri="{FF2B5EF4-FFF2-40B4-BE49-F238E27FC236}">
                <a16:creationId id="{581AA9AD-1EC3-4C0A-AECE-FD1B13377D98}"/>
              </a:ext>
            </a:extLst>
          </p:cNvPr>
          <p:cNvSpPr>
            <a:spLocks noGrp="1"/>
          </p:cNvSpPr>
          <p:nvPr/>
        </p:nvSpPr>
        <p:spPr>
          <a:xfrm>
            <a:off x="4333875" y="1952625"/>
            <a:ext cx="3238500" cy="266700"/>
          </a:xfrm>
          <a:prstGeom prst="rect">
            <a:avLst/>
          </a:prstGeom>
          <a:noFill/>
          <a:ln w="0">
            <a:noFill/>
            <a:prstDash val="solid"/>
          </a:ln>
        </p:spPr>
        <p:txBody>
          <a:bodyPr/>
          <a:lstStyle>
            <a:defPPr>
              <a:defRPr sz="1200" b="1">
                <a:solidFill>
                  <a:srgbClr val="168C83"/>
                </a:solidFill>
                <a:latin typeface="Arial"/>
                <a:ea typeface="Arial"/>
                <a:cs typeface="Arial"/>
              </a:defRPr>
            </a:defPPr>
          </a:lstStyle>
          <a:p>
            <a:pPr>
              <a:defRPr sz="1200" b="1">
                <a:solidFill>
                  <a:srgbClr val="168C83"/>
                </a:solidFill>
                <a:latin typeface="Arial"/>
                <a:ea typeface="Arial"/>
                <a:cs typeface="Arial"/>
              </a:defRPr>
            </a:pPr>
            <a:r>
              <a:rPr sz="1200" b="1">
                <a:solidFill>
                  <a:srgbClr val="168C83"/>
                </a:solidFill>
                <a:latin typeface="Arial"/>
                <a:ea typeface="Arial"/>
                <a:cs typeface="Arial"/>
              </a:rPr>
              <a:t>RISK AND ACTIONS</a:t>
            </a:r>
          </a:p>
        </p:txBody>
      </p:sp>
      <p:sp>
        <p:nvSpPr>
          <p:cNvPr id="8" name="">
            <a:extLst>
              <a:ext uri="{FF2B5EF4-FFF2-40B4-BE49-F238E27FC236}">
                <a16:creationId id="{03895790-EEDE-4A6C-A3BD-4AF31205D9AE}"/>
              </a:ext>
            </a:extLst>
          </p:cNvPr>
          <p:cNvSpPr>
            <a:spLocks noGrp="1"/>
          </p:cNvSpPr>
          <p:nvPr/>
        </p:nvSpPr>
        <p:spPr>
          <a:xfrm>
            <a:off x="4333875" y="2457450"/>
            <a:ext cx="3238500" cy="2095500"/>
          </a:xfrm>
          <a:prstGeom prst="rect">
            <a:avLst/>
          </a:prstGeom>
          <a:noFill/>
          <a:ln w="0">
            <a:noFill/>
            <a:prstDash val="solid"/>
          </a:ln>
        </p:spPr>
        <p:txBody>
          <a:bodyPr/>
          <a:lstStyle>
            <a:defPPr>
              <a:defRPr sz="1500">
                <a:solidFill>
                  <a:srgbClr val="334E68"/>
                </a:solidFill>
                <a:latin typeface="Arial"/>
                <a:ea typeface="Arial"/>
                <a:cs typeface="Arial"/>
              </a:defRPr>
            </a:defPPr>
          </a:lstStyle>
          <a:p>
            <a:pPr>
              <a:defRPr sz="1500">
                <a:solidFill>
                  <a:srgbClr val="334E68"/>
                </a:solidFill>
                <a:latin typeface="Arial"/>
                <a:ea typeface="Arial"/>
                <a:cs typeface="Arial"/>
              </a:defRPr>
            </a:pPr>
            <a:r>
              <a:rPr sz="1500">
                <a:solidFill>
                  <a:srgbClr val="334E68"/>
                </a:solidFill>
                <a:latin typeface="Arial"/>
                <a:ea typeface="Arial"/>
                <a:cs typeface="Arial"/>
              </a:rPr>
              <a:t>Nine-factor risk bands show available data coverage. Study plans target weak subjects and recorded support needs.</a:t>
            </a:r>
          </a:p>
        </p:txBody>
      </p:sp>
      <p:sp>
        <p:nvSpPr>
          <p:cNvPr id="9" name="">
            <a:extLst>
              <a:ext uri="{FF2B5EF4-FFF2-40B4-BE49-F238E27FC236}">
                <a16:creationId id="{EFECD195-77FA-4A08-82F9-67E2EACBE326}"/>
              </a:ext>
            </a:extLst>
          </p:cNvPr>
          <p:cNvSpPr>
            <a:spLocks noGrp="1"/>
          </p:cNvSpPr>
          <p:nvPr/>
        </p:nvSpPr>
        <p:spPr>
          <a:xfrm>
            <a:off x="8058150" y="1952625"/>
            <a:ext cx="3238500" cy="266700"/>
          </a:xfrm>
          <a:prstGeom prst="rect">
            <a:avLst/>
          </a:prstGeom>
          <a:noFill/>
          <a:ln w="0">
            <a:noFill/>
            <a:prstDash val="solid"/>
          </a:ln>
        </p:spPr>
        <p:txBody>
          <a:bodyPr/>
          <a:lstStyle>
            <a:defPPr>
              <a:defRPr sz="1200" b="1">
                <a:solidFill>
                  <a:srgbClr val="168C83"/>
                </a:solidFill>
                <a:latin typeface="Arial"/>
                <a:ea typeface="Arial"/>
                <a:cs typeface="Arial"/>
              </a:defRPr>
            </a:defPPr>
          </a:lstStyle>
          <a:p>
            <a:pPr>
              <a:defRPr sz="1200" b="1">
                <a:solidFill>
                  <a:srgbClr val="168C83"/>
                </a:solidFill>
                <a:latin typeface="Arial"/>
                <a:ea typeface="Arial"/>
                <a:cs typeface="Arial"/>
              </a:defRPr>
            </a:pPr>
            <a:r>
              <a:rPr sz="1200" b="1">
                <a:solidFill>
                  <a:srgbClr val="168C83"/>
                </a:solidFill>
                <a:latin typeface="Arial"/>
                <a:ea typeface="Arial"/>
                <a:cs typeface="Arial"/>
              </a:rPr>
              <a:t>SIMULATION AND REPORTS</a:t>
            </a:r>
          </a:p>
        </p:txBody>
      </p:sp>
      <p:sp>
        <p:nvSpPr>
          <p:cNvPr id="10" name="">
            <a:extLst>
              <a:ext uri="{FF2B5EF4-FFF2-40B4-BE49-F238E27FC236}">
                <a16:creationId id="{F396523F-B9ED-45B8-9422-3D67B7909860}"/>
              </a:ext>
            </a:extLst>
          </p:cNvPr>
          <p:cNvSpPr>
            <a:spLocks noGrp="1"/>
          </p:cNvSpPr>
          <p:nvPr/>
        </p:nvSpPr>
        <p:spPr>
          <a:xfrm>
            <a:off x="8058150" y="2457450"/>
            <a:ext cx="3238500" cy="2095500"/>
          </a:xfrm>
          <a:prstGeom prst="rect">
            <a:avLst/>
          </a:prstGeom>
          <a:noFill/>
          <a:ln w="0">
            <a:noFill/>
            <a:prstDash val="solid"/>
          </a:ln>
        </p:spPr>
        <p:txBody>
          <a:bodyPr/>
          <a:lstStyle>
            <a:defPPr>
              <a:defRPr sz="1500">
                <a:solidFill>
                  <a:srgbClr val="334E68"/>
                </a:solidFill>
                <a:latin typeface="Arial"/>
                <a:ea typeface="Arial"/>
                <a:cs typeface="Arial"/>
              </a:defRPr>
            </a:defPPr>
          </a:lstStyle>
          <a:p>
            <a:pPr>
              <a:defRPr sz="1500">
                <a:solidFill>
                  <a:srgbClr val="334E68"/>
                </a:solidFill>
                <a:latin typeface="Arial"/>
                <a:ea typeface="Arial"/>
                <a:cs typeface="Arial"/>
              </a:defRPr>
            </a:pPr>
            <a:r>
              <a:rPr sz="1500">
                <a:solidFill>
                  <a:srgbClr val="334E68"/>
                </a:solidFill>
                <a:latin typeface="Arial"/>
                <a:ea typeface="Arial"/>
                <a:cs typeface="Arial"/>
              </a:rPr>
              <a:t>What-if controls show model scenarios. Students and faculty can download a PDF report; the reference form also exports a privacy-safe JSON summary.</a:t>
            </a:r>
          </a:p>
        </p:txBody>
      </p:sp>
      <p:sp>
        <p:nvSpPr>
          <p:cNvPr id="11" name="">
            <a:extLst>
              <a:ext uri="{FF2B5EF4-FFF2-40B4-BE49-F238E27FC236}">
                <a16:creationId id="{FAE89FDE-8E0D-4672-9542-08C22B23D42B}"/>
              </a:ext>
            </a:extLst>
          </p:cNvPr>
          <p:cNvSpPr>
            <a:spLocks noGrp="1"/>
          </p:cNvSpPr>
          <p:nvPr/>
        </p:nvSpPr>
        <p:spPr>
          <a:xfrm>
            <a:off x="609600" y="5581650"/>
            <a:ext cx="10668000" cy="400050"/>
          </a:xfrm>
          <a:prstGeom prst="rect">
            <a:avLst/>
          </a:prstGeom>
          <a:noFill/>
          <a:ln w="0">
            <a:noFill/>
            <a:prstDash val="solid"/>
          </a:ln>
        </p:spPr>
        <p:txBody>
          <a:bodyPr/>
          <a:lstStyle>
            <a:defPPr>
              <a:defRPr sz="1350">
                <a:solidFill>
                  <a:srgbClr val="627D98"/>
                </a:solidFill>
                <a:latin typeface="Arial"/>
                <a:ea typeface="Arial"/>
                <a:cs typeface="Arial"/>
              </a:defRPr>
            </a:defPPr>
          </a:lstStyle>
          <a:p>
            <a:pPr>
              <a:defRPr sz="1350">
                <a:solidFill>
                  <a:srgbClr val="627D98"/>
                </a:solidFill>
                <a:latin typeface="Arial"/>
                <a:ea typeface="Arial"/>
                <a:cs typeface="Arial"/>
              </a:defRPr>
            </a:pPr>
            <a:r>
              <a:rPr sz="1350">
                <a:solidFill>
                  <a:srgbClr val="627D98"/>
                </a:solidFill>
                <a:latin typeface="Arial"/>
                <a:ea typeface="Arial"/>
                <a:cs typeface="Arial"/>
              </a:rPr>
              <a:t>A simulation describes model behavior. It does not predict the effect of changing a real student's circumstances.</a:t>
            </a:r>
          </a:p>
        </p:txBody>
      </p:sp>
    </p:spTree>
    <p:extLst>
      <p:ext uri="{BB962C8B-B14F-4D97-AF65-F5344CB8AC3E}">
        <p14:creationId val="1840711880"/>
      </p:ext>
    </p:extLst>
  </p:cSld>
</p:sld>
</file>

<file path=ppt/slides/slide8.xml><?xml version="1.0" encoding="utf-8"?>
<p:sld xmlns:a="http://schemas.openxmlformats.org/drawingml/2006/main" xmlns:a16="http://schemas.microsoft.com/office/drawing/2014/main" xmlns:p="http://schemas.openxmlformats.org/presentationml/2006/main" xmlns:p14="http://schemas.microsoft.com/office/powerpoint/2010/main">
  <p:cSld>
    <p:bg>
      <p:bgPr>
        <a:solidFill>
          <a:srgbClr val="F6F8FB"/>
        </a:solidFill>
      </p:bgPr>
    </p:bg>
    <p:spTree>
      <p:nvGrpSpPr>
        <p:cNvPr id="1" name=""/>
        <p:cNvGrpSpPr/>
        <p:nvPr/>
      </p:nvGrpSpPr>
      <p:grpSpPr>
        <a:xfrm/>
      </p:grpSpPr>
      <p:sp>
        <p:nvSpPr>
          <p:cNvPr id="13" name="">
            <a:extLst>
              <a:ext uri="{FF2B5EF4-FFF2-40B4-BE49-F238E27FC236}">
                <a16:creationId id="{7FBB129A-7C88-4945-95D5-608FB66C444C}"/>
              </a:ext>
            </a:extLst>
          </p:cNvPr>
          <p:cNvSpPr>
            <a:spLocks noGrp="1"/>
          </p:cNvSpPr>
          <p:nvPr/>
        </p:nvSpPr>
        <p:spPr>
          <a:xfrm>
            <a:off x="609600" y="266700"/>
            <a:ext cx="3619500" cy="238125"/>
          </a:xfrm>
          <a:prstGeom prst="rect">
            <a:avLst/>
          </a:prstGeom>
          <a:noFill/>
          <a:ln w="0">
            <a:noFill/>
            <a:prstDash val="solid"/>
          </a:ln>
        </p:spPr>
        <p:txBody>
          <a:bodyPr/>
          <a:lstStyle>
            <a:defPPr>
              <a:defRPr sz="1125" b="1">
                <a:solidFill>
                  <a:srgbClr val="168C83"/>
                </a:solidFill>
                <a:latin typeface="Arial"/>
                <a:ea typeface="Arial"/>
                <a:cs typeface="Arial"/>
              </a:defRPr>
            </a:defPPr>
          </a:lstStyle>
          <a:p>
            <a:pPr>
              <a:defRPr sz="1125" b="1">
                <a:solidFill>
                  <a:srgbClr val="168C83"/>
                </a:solidFill>
                <a:latin typeface="Arial"/>
                <a:ea typeface="Arial"/>
                <a:cs typeface="Arial"/>
              </a:defRPr>
            </a:pPr>
            <a:r>
              <a:rPr sz="1125" b="1">
                <a:solidFill>
                  <a:srgbClr val="168C83"/>
                </a:solidFill>
                <a:latin typeface="Arial"/>
                <a:ea typeface="Arial"/>
                <a:cs typeface="Arial"/>
              </a:rPr>
              <a:t>TREKVERSE AI ACADEMY</a:t>
            </a:r>
          </a:p>
        </p:txBody>
      </p:sp>
      <p:sp>
        <p:nvSpPr>
          <p:cNvPr id="2" name="">
            <a:extLst>
              <a:ext uri="{FF2B5EF4-FFF2-40B4-BE49-F238E27FC236}">
                <a16:creationId id="{94C87A28-570C-4294-820E-89FF0A27BDEA}"/>
              </a:ext>
            </a:extLst>
          </p:cNvPr>
          <p:cNvSpPr>
            <a:spLocks noGrp="1"/>
          </p:cNvSpPr>
          <p:nvPr/>
        </p:nvSpPr>
        <p:spPr>
          <a:xfrm>
            <a:off x="9191625" y="285750"/>
            <a:ext cx="2381250" cy="209550"/>
          </a:xfrm>
          <a:prstGeom prst="rect">
            <a:avLst/>
          </a:prstGeom>
          <a:noFill/>
          <a:ln w="0">
            <a:noFill/>
            <a:prstDash val="solid"/>
          </a:ln>
        </p:spPr>
        <p:txBody>
          <a:bodyPr/>
          <a:lstStyle>
            <a:defPPr>
              <a:defRPr sz="975" b="1">
                <a:solidFill>
                  <a:srgbClr val="627D98"/>
                </a:solidFill>
                <a:latin typeface="Arial"/>
                <a:ea typeface="Arial"/>
                <a:cs typeface="Arial"/>
              </a:defRPr>
            </a:defPPr>
          </a:lstStyle>
          <a:p>
            <a:pPr>
              <a:defRPr sz="975" b="1">
                <a:solidFill>
                  <a:srgbClr val="627D98"/>
                </a:solidFill>
                <a:latin typeface="Arial"/>
                <a:ea typeface="Arial"/>
                <a:cs typeface="Arial"/>
              </a:defRPr>
            </a:pPr>
            <a:r>
              <a:rPr sz="975" b="1">
                <a:solidFill>
                  <a:srgbClr val="627D98"/>
                </a:solidFill>
                <a:latin typeface="Arial"/>
                <a:ea typeface="Arial"/>
                <a:cs typeface="Arial"/>
              </a:rPr>
              <a:t>DELIVERY</a:t>
            </a:r>
          </a:p>
        </p:txBody>
      </p:sp>
      <p:sp>
        <p:nvSpPr>
          <p:cNvPr id="3" name="">
            <a:extLst>
              <a:ext uri="{FF2B5EF4-FFF2-40B4-BE49-F238E27FC236}">
                <a16:creationId id="{1D0C6E1B-6BE3-418D-B291-349EB73A0C2E}"/>
              </a:ext>
            </a:extLst>
          </p:cNvPr>
          <p:cNvSpPr>
            <a:spLocks noGrp="1"/>
          </p:cNvSpPr>
          <p:nvPr/>
        </p:nvSpPr>
        <p:spPr>
          <a:xfrm>
            <a:off x="609600" y="733425"/>
            <a:ext cx="10972800" cy="609600"/>
          </a:xfrm>
          <a:prstGeom prst="rect">
            <a:avLst/>
          </a:prstGeom>
          <a:noFill/>
          <a:ln w="0">
            <a:noFill/>
            <a:prstDash val="solid"/>
          </a:ln>
        </p:spPr>
        <p:txBody>
          <a:bodyPr/>
          <a:lstStyle>
            <a:defPPr>
              <a:defRPr sz="3000" b="1">
                <a:solidFill>
                  <a:srgbClr val="102A43"/>
                </a:solidFill>
                <a:latin typeface="Arial"/>
                <a:ea typeface="Arial"/>
                <a:cs typeface="Arial"/>
              </a:defRPr>
            </a:defPPr>
          </a:lstStyle>
          <a:p>
            <a:pPr>
              <a:defRPr sz="3000" b="1">
                <a:solidFill>
                  <a:srgbClr val="102A43"/>
                </a:solidFill>
                <a:latin typeface="Arial"/>
                <a:ea typeface="Arial"/>
                <a:cs typeface="Arial"/>
              </a:defRPr>
            </a:pPr>
            <a:r>
              <a:rPr sz="3000" b="1">
                <a:solidFill>
                  <a:srgbClr val="102A43"/>
                </a:solidFill>
                <a:latin typeface="Arial"/>
                <a:ea typeface="Arial"/>
                <a:cs typeface="Arial"/>
              </a:rPr>
              <a:t>Readiness and handoff</a:t>
            </a:r>
          </a:p>
        </p:txBody>
      </p:sp>
      <p:sp>
        <p:nvSpPr>
          <p:cNvPr id="4" name="">
            <a:extLst>
              <a:ext uri="{FF2B5EF4-FFF2-40B4-BE49-F238E27FC236}">
                <a16:creationId id="{498E01C3-3B86-475F-94F9-3A1F0300BCBC}"/>
              </a:ext>
            </a:extLst>
          </p:cNvPr>
          <p:cNvSpPr>
            <a:spLocks noGrp="1"/>
          </p:cNvSpPr>
          <p:nvPr/>
        </p:nvSpPr>
        <p:spPr>
          <a:xfrm>
            <a:off x="609600" y="1438275"/>
            <a:ext cx="723900" cy="47625"/>
          </a:xfrm>
          <a:prstGeom prst="rect">
            <a:avLst/>
          </a:prstGeom>
          <a:solidFill>
            <a:srgbClr val="168C83"/>
          </a:solidFill>
          <a:ln w="0">
            <a:noFill/>
            <a:prstDash val="solid"/>
          </a:ln>
        </p:spPr>
      </p:sp>
      <p:sp>
        <p:nvSpPr>
          <p:cNvPr id="5" name="">
            <a:extLst>
              <a:ext uri="{FF2B5EF4-FFF2-40B4-BE49-F238E27FC236}">
                <a16:creationId id="{03F3BE80-0309-4452-9CC0-7B351413574C}"/>
              </a:ext>
            </a:extLst>
          </p:cNvPr>
          <p:cNvSpPr>
            <a:spLocks noGrp="1"/>
          </p:cNvSpPr>
          <p:nvPr/>
        </p:nvSpPr>
        <p:spPr>
          <a:xfrm>
            <a:off x="609600" y="1885950"/>
            <a:ext cx="2476500" cy="266700"/>
          </a:xfrm>
          <a:prstGeom prst="rect">
            <a:avLst/>
          </a:prstGeom>
          <a:noFill/>
          <a:ln w="0">
            <a:noFill/>
            <a:prstDash val="solid"/>
          </a:ln>
        </p:spPr>
        <p:txBody>
          <a:bodyPr/>
          <a:lstStyle>
            <a:defPPr>
              <a:defRPr sz="1200" b="1">
                <a:solidFill>
                  <a:srgbClr val="168C83"/>
                </a:solidFill>
                <a:latin typeface="Arial"/>
                <a:ea typeface="Arial"/>
                <a:cs typeface="Arial"/>
              </a:defRPr>
            </a:defPPr>
          </a:lstStyle>
          <a:p>
            <a:pPr>
              <a:defRPr sz="1200" b="1">
                <a:solidFill>
                  <a:srgbClr val="168C83"/>
                </a:solidFill>
                <a:latin typeface="Arial"/>
                <a:ea typeface="Arial"/>
                <a:cs typeface="Arial"/>
              </a:defRPr>
            </a:pPr>
            <a:r>
              <a:rPr sz="1200" b="1">
                <a:solidFill>
                  <a:srgbClr val="168C83"/>
                </a:solidFill>
                <a:latin typeface="Arial"/>
                <a:ea typeface="Arial"/>
                <a:cs typeface="Arial"/>
              </a:rPr>
              <a:t>READY</a:t>
            </a:r>
          </a:p>
        </p:txBody>
      </p:sp>
      <p:sp>
        <p:nvSpPr>
          <p:cNvPr id="6" name="">
            <a:extLst>
              <a:ext uri="{FF2B5EF4-FFF2-40B4-BE49-F238E27FC236}">
                <a16:creationId id="{DD2AE5AA-E2C2-4973-BEA9-7753C5392C65}"/>
              </a:ext>
            </a:extLst>
          </p:cNvPr>
          <p:cNvSpPr>
            <a:spLocks noGrp="1"/>
          </p:cNvSpPr>
          <p:nvPr/>
        </p:nvSpPr>
        <p:spPr>
          <a:xfrm>
            <a:off x="609600" y="2276475"/>
            <a:ext cx="4857750" cy="1285875"/>
          </a:xfrm>
          <a:prstGeom prst="rect">
            <a:avLst/>
          </a:prstGeom>
          <a:noFill/>
          <a:ln w="0">
            <a:noFill/>
            <a:prstDash val="solid"/>
          </a:ln>
        </p:spPr>
        <p:txBody>
          <a:bodyPr/>
          <a:lstStyle>
            <a:defPPr>
              <a:defRPr sz="1500">
                <a:solidFill>
                  <a:srgbClr val="334E68"/>
                </a:solidFill>
                <a:latin typeface="Arial"/>
                <a:ea typeface="Arial"/>
                <a:cs typeface="Arial"/>
              </a:defRPr>
            </a:defPPr>
          </a:lstStyle>
          <a:p>
            <a:pPr>
              <a:defRPr sz="1500">
                <a:solidFill>
                  <a:srgbClr val="334E68"/>
                </a:solidFill>
                <a:latin typeface="Arial"/>
                <a:ea typeface="Arial"/>
                <a:cs typeface="Arial"/>
              </a:defRPr>
            </a:pPr>
            <a:r>
              <a:rPr sz="1500">
                <a:solidFill>
                  <a:srgbClr val="334E68"/>
                </a:solidFill>
                <a:latin typeface="Arial"/>
                <a:ea typeface="Arial"/>
                <a:cs typeface="Arial"/>
              </a:rPr>
              <a:t>Role-specific dashboards, CSV/Excel validation, SQLite schema, prediction history, PDF reports, model explanations, and what-if controls.</a:t>
            </a:r>
          </a:p>
        </p:txBody>
      </p:sp>
      <p:sp>
        <p:nvSpPr>
          <p:cNvPr id="7" name="">
            <a:extLst>
              <a:ext uri="{FF2B5EF4-FFF2-40B4-BE49-F238E27FC236}">
                <a16:creationId id="{013388B8-D2D2-43B9-B1E1-12D8E303CC24}"/>
              </a:ext>
            </a:extLst>
          </p:cNvPr>
          <p:cNvSpPr>
            <a:spLocks noGrp="1"/>
          </p:cNvSpPr>
          <p:nvPr/>
        </p:nvSpPr>
        <p:spPr>
          <a:xfrm>
            <a:off x="6353175" y="1885950"/>
            <a:ext cx="2952750" cy="266700"/>
          </a:xfrm>
          <a:prstGeom prst="rect">
            <a:avLst/>
          </a:prstGeom>
          <a:noFill/>
          <a:ln w="0">
            <a:noFill/>
            <a:prstDash val="solid"/>
          </a:ln>
        </p:spPr>
        <p:txBody>
          <a:bodyPr/>
          <a:lstStyle>
            <a:defPPr>
              <a:defRPr sz="1200" b="1">
                <a:solidFill>
                  <a:srgbClr val="B54747"/>
                </a:solidFill>
                <a:latin typeface="Arial"/>
                <a:ea typeface="Arial"/>
                <a:cs typeface="Arial"/>
              </a:defRPr>
            </a:defPPr>
          </a:lstStyle>
          <a:p>
            <a:pPr>
              <a:defRPr sz="1200" b="1">
                <a:solidFill>
                  <a:srgbClr val="B54747"/>
                </a:solidFill>
                <a:latin typeface="Arial"/>
                <a:ea typeface="Arial"/>
                <a:cs typeface="Arial"/>
              </a:defRPr>
            </a:pPr>
            <a:r>
              <a:rPr sz="1200" b="1">
                <a:solidFill>
                  <a:srgbClr val="B54747"/>
                </a:solidFill>
                <a:latin typeface="Arial"/>
                <a:ea typeface="Arial"/>
                <a:cs typeface="Arial"/>
              </a:rPr>
              <a:t>CURRENT LIMITS</a:t>
            </a:r>
          </a:p>
        </p:txBody>
      </p:sp>
      <p:sp>
        <p:nvSpPr>
          <p:cNvPr id="8" name="">
            <a:extLst>
              <a:ext uri="{FF2B5EF4-FFF2-40B4-BE49-F238E27FC236}">
                <a16:creationId id="{6C34FC79-4412-4E21-BDA8-1854650DBB55}"/>
              </a:ext>
            </a:extLst>
          </p:cNvPr>
          <p:cNvSpPr>
            <a:spLocks noGrp="1"/>
          </p:cNvSpPr>
          <p:nvPr/>
        </p:nvSpPr>
        <p:spPr>
          <a:xfrm>
            <a:off x="6353175" y="2276475"/>
            <a:ext cx="5191125" cy="1285875"/>
          </a:xfrm>
          <a:prstGeom prst="rect">
            <a:avLst/>
          </a:prstGeom>
          <a:noFill/>
          <a:ln w="0">
            <a:noFill/>
            <a:prstDash val="solid"/>
          </a:ln>
        </p:spPr>
        <p:txBody>
          <a:bodyPr/>
          <a:lstStyle>
            <a:defPPr>
              <a:defRPr sz="1500">
                <a:solidFill>
                  <a:srgbClr val="334E68"/>
                </a:solidFill>
                <a:latin typeface="Arial"/>
                <a:ea typeface="Arial"/>
                <a:cs typeface="Arial"/>
              </a:defRPr>
            </a:defPPr>
          </a:lstStyle>
          <a:p>
            <a:pPr>
              <a:defRPr sz="1500">
                <a:solidFill>
                  <a:srgbClr val="334E68"/>
                </a:solidFill>
                <a:latin typeface="Arial"/>
                <a:ea typeface="Arial"/>
                <a:cs typeface="Arial"/>
              </a:defRPr>
            </a:pPr>
            <a:r>
              <a:rPr sz="1500">
                <a:solidFill>
                  <a:srgbClr val="334E68"/>
                </a:solidFill>
                <a:latin typeface="Arial"/>
                <a:ea typeface="Arial"/>
                <a:cs typeface="Arial"/>
              </a:rPr>
              <a:t>No institution records are loaded; local model quality is unmeasured. SQLite login and storage support a demo. REST API/PostgreSQL deployment is not included.</a:t>
            </a:r>
          </a:p>
        </p:txBody>
      </p:sp>
      <p:sp>
        <p:nvSpPr>
          <p:cNvPr id="9" name="">
            <a:extLst>
              <a:ext uri="{FF2B5EF4-FFF2-40B4-BE49-F238E27FC236}">
                <a16:creationId id="{732EBDAA-DDEA-4CCB-9F19-D77152D9AA54}"/>
              </a:ext>
            </a:extLst>
          </p:cNvPr>
          <p:cNvSpPr>
            <a:spLocks noGrp="1"/>
          </p:cNvSpPr>
          <p:nvPr/>
        </p:nvSpPr>
        <p:spPr>
          <a:xfrm>
            <a:off x="609600" y="4000500"/>
            <a:ext cx="10906125" cy="9525"/>
          </a:xfrm>
          <a:prstGeom prst="rect">
            <a:avLst/>
          </a:prstGeom>
          <a:solidFill>
            <a:srgbClr val="D9E2EC"/>
          </a:solidFill>
          <a:ln w="0">
            <a:noFill/>
            <a:prstDash val="solid"/>
          </a:ln>
        </p:spPr>
      </p:sp>
      <p:sp>
        <p:nvSpPr>
          <p:cNvPr id="10" name="">
            <a:extLst>
              <a:ext uri="{FF2B5EF4-FFF2-40B4-BE49-F238E27FC236}">
                <a16:creationId id="{B0A28644-AA32-4189-8488-53E7CDBFC739}"/>
              </a:ext>
            </a:extLst>
          </p:cNvPr>
          <p:cNvSpPr>
            <a:spLocks noGrp="1"/>
          </p:cNvSpPr>
          <p:nvPr/>
        </p:nvSpPr>
        <p:spPr>
          <a:xfrm>
            <a:off x="609600" y="4314825"/>
            <a:ext cx="2857500" cy="266700"/>
          </a:xfrm>
          <a:prstGeom prst="rect">
            <a:avLst/>
          </a:prstGeom>
          <a:noFill/>
          <a:ln w="0">
            <a:noFill/>
            <a:prstDash val="solid"/>
          </a:ln>
        </p:spPr>
        <p:txBody>
          <a:bodyPr/>
          <a:lstStyle>
            <a:defPPr>
              <a:defRPr sz="1200" b="1">
                <a:solidFill>
                  <a:srgbClr val="168C83"/>
                </a:solidFill>
                <a:latin typeface="Arial"/>
                <a:ea typeface="Arial"/>
                <a:cs typeface="Arial"/>
              </a:defRPr>
            </a:defPPr>
          </a:lstStyle>
          <a:p>
            <a:pPr>
              <a:defRPr sz="1200" b="1">
                <a:solidFill>
                  <a:srgbClr val="168C83"/>
                </a:solidFill>
                <a:latin typeface="Arial"/>
                <a:ea typeface="Arial"/>
                <a:cs typeface="Arial"/>
              </a:defRPr>
            </a:pPr>
            <a:r>
              <a:rPr sz="1200" b="1">
                <a:solidFill>
                  <a:srgbClr val="168C83"/>
                </a:solidFill>
                <a:latin typeface="Arial"/>
                <a:ea typeface="Arial"/>
                <a:cs typeface="Arial"/>
              </a:rPr>
              <a:t>RUN IN VS CODE</a:t>
            </a:r>
          </a:p>
        </p:txBody>
      </p:sp>
      <p:sp>
        <p:nvSpPr>
          <p:cNvPr id="11" name="">
            <a:extLst>
              <a:ext uri="{FF2B5EF4-FFF2-40B4-BE49-F238E27FC236}">
                <a16:creationId id="{DDC8D140-AF78-4C98-A497-791E75B17D0C}"/>
              </a:ext>
            </a:extLst>
          </p:cNvPr>
          <p:cNvSpPr>
            <a:spLocks noGrp="1"/>
          </p:cNvSpPr>
          <p:nvPr/>
        </p:nvSpPr>
        <p:spPr>
          <a:xfrm>
            <a:off x="609600" y="4724400"/>
            <a:ext cx="6429375" cy="1285875"/>
          </a:xfrm>
          <a:prstGeom prst="rect">
            <a:avLst/>
          </a:prstGeom>
          <a:noFill/>
          <a:ln w="0">
            <a:noFill/>
            <a:prstDash val="solid"/>
          </a:ln>
        </p:spPr>
        <p:txBody>
          <a:bodyPr/>
          <a:lstStyle>
            <a:defPPr>
              <a:defRPr sz="1425">
                <a:solidFill>
                  <a:srgbClr val="102A43"/>
                </a:solidFill>
                <a:latin typeface="Arial"/>
                <a:ea typeface="Arial"/>
                <a:cs typeface="Arial"/>
              </a:defRPr>
            </a:defPPr>
          </a:lstStyle>
          <a:p>
            <a:pPr>
              <a:defRPr sz="1425">
                <a:solidFill>
                  <a:srgbClr val="102A43"/>
                </a:solidFill>
                <a:latin typeface="Arial"/>
                <a:ea typeface="Arial"/>
                <a:cs typeface="Arial"/>
              </a:defRPr>
            </a:pPr>
            <a:r>
              <a:rPr sz="1425">
                <a:solidFill>
                  <a:srgbClr val="102A43"/>
                </a:solidFill>
                <a:latin typeface="Arial"/>
                <a:ea typeface="Arial"/>
                <a:cs typeface="Arial"/>
              </a:rPr>
              <a:t>python -m pip install -r requirements.txt</a:t>
            </a:r>
          </a:p>
          <a:p>
            <a:pPr>
              <a:defRPr sz="1425">
                <a:solidFill>
                  <a:srgbClr val="102A43"/>
                </a:solidFill>
                <a:latin typeface="Arial"/>
                <a:ea typeface="Arial"/>
                <a:cs typeface="Arial"/>
              </a:defRPr>
            </a:pPr>
            <a:r>
              <a:rPr sz="1425">
                <a:solidFill>
                  <a:srgbClr val="102A43"/>
                </a:solidFill>
                <a:latin typeface="Arial"/>
                <a:ea typeface="Arial"/>
                <a:cs typeface="Arial"/>
              </a:rPr>
              <a:t>python -m src.data.download</a:t>
            </a:r>
          </a:p>
          <a:p>
            <a:pPr>
              <a:defRPr sz="1425">
                <a:solidFill>
                  <a:srgbClr val="102A43"/>
                </a:solidFill>
                <a:latin typeface="Arial"/>
                <a:ea typeface="Arial"/>
                <a:cs typeface="Arial"/>
              </a:defRPr>
            </a:pPr>
            <a:r>
              <a:rPr sz="1425">
                <a:solidFill>
                  <a:srgbClr val="102A43"/>
                </a:solidFill>
                <a:latin typeface="Arial"/>
                <a:ea typeface="Arial"/>
                <a:cs typeface="Arial"/>
              </a:rPr>
              <a:t>python -m src.models.train</a:t>
            </a:r>
          </a:p>
          <a:p>
            <a:pPr>
              <a:defRPr sz="1425">
                <a:solidFill>
                  <a:srgbClr val="102A43"/>
                </a:solidFill>
                <a:latin typeface="Arial"/>
                <a:ea typeface="Arial"/>
                <a:cs typeface="Arial"/>
              </a:defRPr>
            </a:pPr>
            <a:r>
              <a:rPr sz="1425">
                <a:solidFill>
                  <a:srgbClr val="102A43"/>
                </a:solidFill>
                <a:latin typeface="Arial"/>
                <a:ea typeface="Arial"/>
                <a:cs typeface="Arial"/>
              </a:rPr>
              <a:t>streamlit run app/app.py</a:t>
            </a:r>
          </a:p>
        </p:txBody>
      </p:sp>
      <p:sp>
        <p:nvSpPr>
          <p:cNvPr id="12" name="">
            <a:extLst>
              <a:ext uri="{FF2B5EF4-FFF2-40B4-BE49-F238E27FC236}">
                <a16:creationId id="{7D9B7FDE-7ECF-41B7-B7B9-80B86E1C176D}"/>
              </a:ext>
            </a:extLst>
          </p:cNvPr>
          <p:cNvSpPr>
            <a:spLocks noGrp="1"/>
          </p:cNvSpPr>
          <p:nvPr/>
        </p:nvSpPr>
        <p:spPr>
          <a:xfrm>
            <a:off x="7448550" y="4724400"/>
            <a:ext cx="4095750" cy="1285875"/>
          </a:xfrm>
          <a:prstGeom prst="rect">
            <a:avLst/>
          </a:prstGeom>
          <a:noFill/>
          <a:ln w="0">
            <a:noFill/>
            <a:prstDash val="solid"/>
          </a:ln>
        </p:spPr>
        <p:txBody>
          <a:bodyPr/>
          <a:lstStyle>
            <a:defPPr>
              <a:defRPr sz="1350">
                <a:solidFill>
                  <a:srgbClr val="334E68"/>
                </a:solidFill>
                <a:latin typeface="Arial"/>
                <a:ea typeface="Arial"/>
                <a:cs typeface="Arial"/>
              </a:defRPr>
            </a:defPPr>
          </a:lstStyle>
          <a:p>
            <a:pPr>
              <a:defRPr sz="1350">
                <a:solidFill>
                  <a:srgbClr val="334E68"/>
                </a:solidFill>
                <a:latin typeface="Arial"/>
                <a:ea typeface="Arial"/>
                <a:cs typeface="Arial"/>
              </a:defRPr>
            </a:pPr>
            <a:r>
              <a:rPr sz="1350">
                <a:solidFill>
                  <a:srgbClr val="334E68"/>
                </a:solidFill>
                <a:latin typeface="Arial"/>
                <a:ea typeface="Arial"/>
                <a:cs typeface="Arial"/>
              </a:rPr>
              <a:t>Verification: 22 automated tests passed. First launch: create the Admin account, import approved institution data, then create Faculty and Student accounts.</a:t>
            </a:r>
          </a:p>
        </p:txBody>
      </p:sp>
    </p:spTree>
    <p:extLst>
      <p:ext uri="{BB962C8B-B14F-4D97-AF65-F5344CB8AC3E}">
        <p14:creationId val="207677588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2026-10-11T07:19:18.5320000Z</dcterms:created>
  <dcterms:modified xsi:type="dcterms:W3CDTF">2026-10-11T07:19:18.5320000Z</dcterms:modified>
</coreProperties>
</file>